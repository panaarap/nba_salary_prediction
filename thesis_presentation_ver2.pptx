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3"/>
  </p:notesMasterIdLst>
  <p:sldIdLst>
    <p:sldId id="258" r:id="rId3"/>
    <p:sldId id="261" r:id="rId4"/>
    <p:sldId id="259" r:id="rId5"/>
    <p:sldId id="302" r:id="rId6"/>
    <p:sldId id="287" r:id="rId7"/>
    <p:sldId id="286" r:id="rId8"/>
    <p:sldId id="303" r:id="rId9"/>
    <p:sldId id="288" r:id="rId10"/>
    <p:sldId id="289" r:id="rId11"/>
    <p:sldId id="290" r:id="rId12"/>
    <p:sldId id="304" r:id="rId13"/>
    <p:sldId id="292" r:id="rId14"/>
    <p:sldId id="293" r:id="rId15"/>
    <p:sldId id="295" r:id="rId16"/>
    <p:sldId id="299" r:id="rId17"/>
    <p:sldId id="294" r:id="rId18"/>
    <p:sldId id="296" r:id="rId19"/>
    <p:sldId id="297" r:id="rId20"/>
    <p:sldId id="300" r:id="rId21"/>
    <p:sldId id="298" r:id="rId22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5FA872E-31E6-43C4-94F2-3C91BC6F9269}">
          <p14:sldIdLst>
            <p14:sldId id="258"/>
            <p14:sldId id="261"/>
            <p14:sldId id="259"/>
            <p14:sldId id="302"/>
            <p14:sldId id="287"/>
            <p14:sldId id="286"/>
            <p14:sldId id="303"/>
            <p14:sldId id="288"/>
            <p14:sldId id="289"/>
            <p14:sldId id="290"/>
            <p14:sldId id="304"/>
            <p14:sldId id="292"/>
            <p14:sldId id="293"/>
            <p14:sldId id="295"/>
            <p14:sldId id="299"/>
            <p14:sldId id="294"/>
            <p14:sldId id="296"/>
            <p14:sldId id="297"/>
            <p14:sldId id="300"/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15" d="100"/>
        <a:sy n="11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3518EC-F0A0-4C5F-A1E9-3B5E8C092ABC}" type="datetimeFigureOut">
              <a:rPr lang="el-GR" smtClean="0"/>
              <a:t>25/6/2025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1A9713-32A2-4987-A4E5-A45477CF14B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21746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Όπως αναφέρεται στον τίτλο, η έρευνα επικεντρώθηκε στο </a:t>
            </a:r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NBA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το αμερικανικό πρωτάθλημα μπάσκετ, το οποίο:</a:t>
            </a:r>
          </a:p>
          <a:p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Θεωρείται το </a:t>
            </a:r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κορυφαίο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επαγγελματικό πρωτάθλημα μπάσκετ παγκοσμίως.</a:t>
            </a:r>
          </a:p>
          <a:p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Έχει </a:t>
            </a:r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παγκόσμια απήχηση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και υψηλά οικονομικά κέρδη.</a:t>
            </a:r>
          </a:p>
          <a:p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Συγκεντρώνει τεράστιο όγκο δεδομένων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τα οποία είναι ιδανικά για εφαρμογές στην επιστήμη των δεδομένων, όπως αυτή η εργασία.</a:t>
            </a:r>
          </a:p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A9713-32A2-4987-A4E5-A45477CF14BD}" type="slidenum">
              <a:rPr lang="el-GR" smtClean="0"/>
              <a:t>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44536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Σε αυτή τη διαφάνεια παρουσιάζονται </a:t>
            </a:r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τα περιεχόμενα της παρούσας παρουσίασης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τα οποία αντιστοιχούν και στα βήματα που ακολούθησα κατά την υλοποίηση της εργασίας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C6A9C-D4D2-4563-AD30-12ABE45B6C6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371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Η διαδικασία συλλογής δεδομένων ξεκίνησε με τον ορισμό των εξής απαιτήσεων :</a:t>
            </a:r>
          </a:p>
          <a:p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Βασικά στατιστικά στοιχεία (πόντους, ριμπάουντ, </a:t>
            </a:r>
            <a:r>
              <a:rPr lang="el-G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ασίστ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Προσωπικά χαρακτηριστικά (χώρα προέλευσης, κολέγιο φοίτησης)</a:t>
            </a:r>
          </a:p>
          <a:p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Μισθολογικές πληροφορίες</a:t>
            </a:r>
          </a:p>
          <a:p>
            <a:endParaRPr lang="el-G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Πηγές Δεδομένων:</a:t>
            </a:r>
            <a:endParaRPr lang="el-G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l-G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Kaggle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έτοιμα </a:t>
            </a:r>
            <a:r>
              <a:rPr lang="el-G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datasets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και τους διαγωνισμούς </a:t>
            </a:r>
            <a:r>
              <a:rPr lang="el-G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science</a:t>
            </a:r>
            <a:endParaRPr lang="el-G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NBA API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ανάκτηση στατιστικών από τον επίσημο ιστότοπο του NBA</a:t>
            </a:r>
          </a:p>
          <a:p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ESPN &amp; </a:t>
            </a:r>
            <a:r>
              <a:rPr lang="el-G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Hoopshype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Εξετάστηκαν για μισθολογικά δεδομένα</a:t>
            </a:r>
          </a:p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A9713-32A2-4987-A4E5-A45477CF14BD}" type="slidenum">
              <a:rPr lang="el-GR" smtClean="0"/>
              <a:t>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37833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Αξιολόγηση Πηγών:</a:t>
            </a:r>
            <a:b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Το </a:t>
            </a:r>
            <a:r>
              <a:rPr lang="el-G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Kaggle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απορρίφθηκε ως κύρια πηγή λόγω:</a:t>
            </a:r>
          </a:p>
          <a:p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Περιορισμένης χρονικής κάλυψης και ελλιπών ή μη επαρκή αριθμό χαρακτηριστικών</a:t>
            </a:r>
          </a:p>
          <a:p>
            <a:endParaRPr lang="el-G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Τελική Βάση Δεδομένων:</a:t>
            </a:r>
            <a:endParaRPr lang="el-G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Πηγή στατιστικών: NBA API</a:t>
            </a:r>
          </a:p>
          <a:p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Πηγή μισθολογικών δεδομένων: </a:t>
            </a:r>
            <a:r>
              <a:rPr lang="el-G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Hoopshype</a:t>
            </a:r>
            <a:endParaRPr lang="el-G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l-G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Τελικός πίνακας: 49 ατομικά χαρακτηριστικά και μισθούς για 22 σεζόν (2000-01 έως 2022-23)</a:t>
            </a:r>
          </a:p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A9713-32A2-4987-A4E5-A45477CF14BD}" type="slidenum">
              <a:rPr lang="el-GR" smtClean="0"/>
              <a:t>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94377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1D55F-6DA9-1DC4-29C9-E2DC8D3E4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8D60E0-203F-965D-193D-6FB905F7E5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22C8C1-55BF-8B96-1325-CD74D11B4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25CF9-2F2F-4206-8760-F6643FFB86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A9713-32A2-4987-A4E5-A45477CF14BD}" type="slidenum">
              <a:rPr lang="el-GR" smtClean="0"/>
              <a:t>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645869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Πριν προχωρήσουμε στην εκπαίδευση των μοντέλων, πραγματοποιήθηκε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προεπεξεργασία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των δεδομένων, η οποία περιλάμβανε: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Βασικός Καθαρισμός:</a:t>
            </a:r>
          </a:p>
          <a:p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Αφαίρεση ειδικών χαρακτήρων (π.χ. σύμβολο $ από τις μισθολογικές τιμές)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Εξάλειψη διπλότυπων εγγραφών που δημιουργήθηκαν κατά τη συγχώνευση πινάκων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l-G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Μετασχηματισμους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Εφαρμογή κλιμάκωσης (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scaling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για ομοιογενή διασπορά δεδομένων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Κανονικοποίηση (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normalization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των τιμών τέτοια ώστε η κατανομές των χαρακτηριστικών  να πλησιάσουν στην κανονική κατανομή που θεωρείται δεδομένη από γραμμικά μοντέλα μηχανικής μάθησης.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A9713-32A2-4987-A4E5-A45477CF14BD}" type="slidenum">
              <a:rPr lang="el-GR" smtClean="0"/>
              <a:t>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077715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Στο πλαίσιο της </a:t>
            </a:r>
            <a:r>
              <a:rPr lang="el-G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προεπεξεργασίας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η διαχείριση μη αριθμητικών μεταβλητών απαιτεί ιδιαίτερη προσοχή, καθώς τα περισσότερα μοντέλα μηχανικής μάθησης λειτουργούν αποκλειστικά με αριθμητικές τιμές.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</a:t>
            </a:r>
            <a:r>
              <a:rPr lang="el-G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abel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Encoding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Κάθε Όνομα ομάδας αντιστοιχεί σε μοναδικό ακέραιο (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label)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n-US" dirty="0"/>
          </a:p>
          <a:p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Σύνθετη περίπτωση του αριθμού επιλογής στο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draft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Τιμές 1-60 για επιλεγμένους παίκτες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Τιμή 100 για μη επιλεγμένους παίκτες (</a:t>
            </a:r>
            <a:r>
              <a:rPr lang="el-G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undrafted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A9713-32A2-4987-A4E5-A45477CF14BD}" type="slidenum">
              <a:rPr lang="el-GR" smtClean="0"/>
              <a:t>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50571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Για κάθε ομάδα πολύ συσχετισμένων μεταβλητών</a:t>
            </a:r>
          </a:p>
          <a:p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Διατηρήσαμε μόνο το ένα μέλος κάθε ζεύγους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Μείωση της διάστασης των δεδομένων</a:t>
            </a:r>
          </a:p>
          <a:p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Βελτίωση της </a:t>
            </a:r>
            <a:r>
              <a:rPr lang="el-G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ερμηνευσιμότητας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του μοντέλου</a:t>
            </a:r>
          </a:p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A9713-32A2-4987-A4E5-A45477CF14BD}" type="slidenum">
              <a:rPr lang="el-GR" smtClean="0"/>
              <a:t>10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13054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71C02-6EDA-7C59-132F-CB91F3190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BF8E8E-CB20-E086-47E8-A1DF915D1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3B7EC8-AF8B-2F8F-B9DA-7AF8F02AE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17F3A-8E3D-D475-CB08-D9DB3A715C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A9713-32A2-4987-A4E5-A45477CF14BD}" type="slidenum">
              <a:rPr lang="el-GR" smtClean="0"/>
              <a:t>11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530751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79F5D-3208-BF55-5116-17CA96B3D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0A9A6A-39BC-1D3F-5D18-D21CE2A3C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764CB0-7972-58F2-A618-EECCB21BD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B2B6E-BC50-C640-D427-2F14A02F89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A9713-32A2-4987-A4E5-A45477CF14BD}" type="slidenum">
              <a:rPr lang="el-GR" smtClean="0"/>
              <a:t>12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336053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270BB-3B50-0B8B-C5DA-392831343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31E603-45B4-312E-5A5A-A37ECB7894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53A1A1-B22D-B5F2-A8D9-CF0234666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7B281-F05C-8FF9-898F-FD22707FCF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A9713-32A2-4987-A4E5-A45477CF14BD}" type="slidenum">
              <a:rPr lang="el-GR" smtClean="0"/>
              <a:t>13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741267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8C22D-E669-1150-6F1E-A2C92841B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4CCA07-662D-9AF9-0FE2-123A3EC16D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355E6E-7F89-0A8E-B944-36E2D1627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EFA7C-61F6-3F99-AFAF-0003B1AC1E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A9713-32A2-4987-A4E5-A45477CF14BD}" type="slidenum">
              <a:rPr lang="el-GR" smtClean="0"/>
              <a:t>14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775659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35326-FCBE-E203-CEA3-EA48E76FB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3255C9-CF7B-11CA-A8A7-B251A98813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97FDD8-A4AE-C894-1D22-EB731EE34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Παλινδρόμηση Ψήφου (Voting </a:t>
            </a:r>
            <a:r>
              <a:rPr lang="el-G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Regression</a:t>
            </a:r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l-G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2"/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Συνδυάζει τις προβλέψεις των 3 βελτιστοποιημένων μοντέλων</a:t>
            </a:r>
          </a:p>
          <a:p>
            <a:pPr lvl="2"/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Κάθε μοντέλο συνεισφέρει με διαφορετικό βάρος</a:t>
            </a:r>
          </a:p>
          <a:p>
            <a:pPr lvl="2"/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Η τελική πρόβλεψη είναι ο σταθμισμένος μέσος όρος</a:t>
            </a:r>
          </a:p>
          <a:p>
            <a:pPr lvl="0"/>
            <a:endParaRPr lang="el-G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Παλινδρόμηση Στοίβας (</a:t>
            </a:r>
            <a:r>
              <a:rPr lang="el-G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Stacking</a:t>
            </a:r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Regression</a:t>
            </a:r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l-G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2"/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Επίπεδο 1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Τα 3 βελτιστοποιημένα μοντέλα (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learners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lvl="2"/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Επίπεδο 2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-μοντέλο (συνήθως γραμμικό) που εκπαιδεύεται στις προβλέψεις του πρώτου επιπέδου</a:t>
            </a:r>
          </a:p>
          <a:p>
            <a:pPr lvl="1"/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Χαρακτηριστικά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2"/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Το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-μοντέλο είναι απλούστερο από τα βασικά</a:t>
            </a:r>
          </a:p>
          <a:p>
            <a:pPr lvl="2"/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Μαθαίνει τον βέλτιστο τρόπο συνδυασμού των προβλέψεων</a:t>
            </a:r>
          </a:p>
          <a:p>
            <a:pPr lvl="0"/>
            <a:endParaRPr lang="el-G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Υβριδική Προσέγγιση</a:t>
            </a:r>
            <a:endParaRPr lang="el-G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Συνδυασμός και των δύο μεθόδων</a:t>
            </a:r>
          </a:p>
          <a:p>
            <a:pPr lvl="0"/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Στο επίπεδο 1: 3 διαφορετικά μοντέλα</a:t>
            </a:r>
          </a:p>
          <a:p>
            <a:pPr lvl="0"/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Στο επίπεδο 2: Voting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regressor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ως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-μοντέλο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50308-6B7E-9247-2BBB-AF65744890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A9713-32A2-4987-A4E5-A45477CF14BD}" type="slidenum">
              <a:rPr lang="el-GR" smtClean="0"/>
              <a:t>15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630063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C2358-8EAF-0C6D-8453-20116ACD1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CDB63-4936-BA7D-706B-59C0278133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8D50BE-0C0E-CCB4-C8F2-0EC8A7C36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A6F9E-5477-8625-1092-AE0CB3906A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A9713-32A2-4987-A4E5-A45477CF14BD}" type="slidenum">
              <a:rPr lang="el-GR" smtClean="0"/>
              <a:t>16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655124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D086B-30D2-DFD9-A756-29C1A1D0A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8CB56E-D459-7722-BE15-C85BF6F979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2E5E29-039D-E003-2D14-D853448CB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Κορυφή Πίνακα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Παίκτες που το μοντέλο θεωρεί </a:t>
            </a:r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υπερπληρωμένους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(πληρώνονται πολύ περισσότερο από την προβλεπόμενη αξία τους)</a:t>
            </a:r>
          </a:p>
          <a:p>
            <a:pPr lvl="0"/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Βάση Πίνακα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Παίκτες που θεωρούνται </a:t>
            </a:r>
            <a:r>
              <a:rPr lang="el-G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υποπληρωμένοι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(αξίζουν μεγαλύτερης αμοιβής)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Για να ελέγξουμε την ακρίβεια του μοντέλου, ανατρέξαμε σε άρθρο του </a:t>
            </a:r>
            <a:r>
              <a:rPr lang="el-G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Hoopshype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με τίτλο "Οι πιο υπερπληρωμένοι παίκτες του NBA τη σεζόν 2022-23".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από τους </a:t>
            </a:r>
            <a:r>
              <a:rPr lang="el-G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</a:t>
            </a:r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παίκτες του άρθρου εμφανίζονταν στην κορυφή των προβλέψεων μας</a:t>
            </a:r>
          </a:p>
          <a:p>
            <a:pPr lvl="0"/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Ο 2ος στην λίστα του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Hoopshype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απουσίαζε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από τα αποτελέσματά μας, επειδή είχε παίξει μόνο </a:t>
            </a:r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 παιχνίδια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και τον είχαμε εξαιρέσει κατά την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προεπεξεργασία</a:t>
            </a:r>
            <a:endParaRPr lang="el-G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Ωστόσο, στην κορυφή του πίνακα εμφανίζονταν και παίκτες όπως ο </a:t>
            </a:r>
            <a:r>
              <a:rPr lang="el-G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Stephen</a:t>
            </a:r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Curry,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οι οποίοι:</a:t>
            </a:r>
          </a:p>
          <a:p>
            <a:pPr lvl="0"/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Θεωρούνται </a:t>
            </a:r>
            <a:r>
              <a:rPr lang="el-G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franchise</a:t>
            </a:r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players</a:t>
            </a:r>
            <a:endParaRPr lang="el-G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Έχουν σημαντική </a:t>
            </a:r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εμπορική αξία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(πωλήσεις φανελών, τηλεθέαση)</a:t>
            </a:r>
          </a:p>
          <a:p>
            <a:pPr lvl="0"/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Η συνολική τους αξία δεν μπορεί να μετρηθεί μόνο από στατιστικά</a:t>
            </a:r>
          </a:p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CAEC3-C232-5C76-5A0C-64B6E32D5C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A9713-32A2-4987-A4E5-A45477CF14BD}" type="slidenum">
              <a:rPr lang="el-GR" smtClean="0"/>
              <a:t>17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155655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0FDE6-14BD-7812-468D-771CA7270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BA6F2C-5C3E-9459-5645-99EBDA508A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70C070-F4BA-3563-4BF3-9462DE892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D7889-4CD2-1E8B-B912-6F6A1655BC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A9713-32A2-4987-A4E5-A45477CF14BD}" type="slidenum">
              <a:rPr lang="el-GR" smtClean="0"/>
              <a:t>18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751059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8EEA-4873-3DA3-160C-08DB1781A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64DAD1-E1F7-BC4C-CE97-D4146C96E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C8DC09-176E-BD4D-9BF4-D2E089577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75190-78D2-0DB4-6EAB-0DC741296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A9713-32A2-4987-A4E5-A45477CF14BD}" type="slidenum">
              <a:rPr lang="el-GR" smtClean="0"/>
              <a:t>19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635537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3EF09-2F36-853F-AEDB-E3B1695FA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47951-B257-CBD4-A9C2-E9CDE3C6AB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71766E-62B1-D3E2-2E6B-09167ADFD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FC8A4-43F0-AEAE-6928-E68CB0A0B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A9713-32A2-4987-A4E5-A45477CF14BD}" type="slidenum">
              <a:rPr lang="el-GR" smtClean="0"/>
              <a:t>20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73276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9E96-036E-EF84-B62D-239F4E1827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848704-32E8-EE11-FE57-6D588B89A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97F8A-8B1C-F2F1-DB81-0F177530F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28E55-2978-43C1-94A6-CED4C61C482A}" type="datetimeFigureOut">
              <a:rPr lang="el-GR" smtClean="0"/>
              <a:t>25/6/2025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B3BD0-FE90-DEAB-CA97-A1A41371D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5BB1D-20DB-5F30-8093-44F357FC2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1CA44-2E1B-4B61-BB73-2696F506EE99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99814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46527-DD9F-AABA-AA82-5F2BF5455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C3F57-B916-3327-3C0B-A042D2DF7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91F97-C3D0-C2F8-B4E3-F9E2D8E5B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28E55-2978-43C1-94A6-CED4C61C482A}" type="datetimeFigureOut">
              <a:rPr lang="el-GR" smtClean="0"/>
              <a:t>25/6/2025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E420F-C250-0A4F-3E78-C1A1F11FA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BE96F-FFCA-389B-B7FD-7CA78F0A0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1CA44-2E1B-4B61-BB73-2696F506EE99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33694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A29D1-4195-C8B4-DA03-E70F8C50E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3A565-51E3-DE7F-7AF5-8BD07F061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8711A-CA3E-7BBB-C6F8-9129178D4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28E55-2978-43C1-94A6-CED4C61C482A}" type="datetimeFigureOut">
              <a:rPr lang="el-GR" smtClean="0"/>
              <a:t>25/6/2025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AE4E7-F125-FFC7-D98D-FEAE00107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2DC3D-922B-EA47-AC0B-F773BF5EA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1CA44-2E1B-4B61-BB73-2696F506EE99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68635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73519-886C-83D5-4B88-ACF6B9473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73A0B-67CD-BFB7-1D2A-E30E1EEF73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5A4195-6CF6-FFC0-0247-28A6CA049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1EC9C0-97A4-B8A7-F6C6-EA50C7D17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28E55-2978-43C1-94A6-CED4C61C482A}" type="datetimeFigureOut">
              <a:rPr lang="el-GR" smtClean="0"/>
              <a:t>25/6/2025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FC7016-59A5-A464-76BB-F26E01BEC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1DA18-3D1D-0EB5-002E-4F4F71E2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1CA44-2E1B-4B61-BB73-2696F506EE99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12408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51AA0-7C08-2934-45EC-F11EB15C1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7F55C-9560-11A5-4E3B-AF9499A4D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9A3B1B-2197-0F31-DEE6-10484A223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2FD789-23E0-3874-D9A5-D266D80947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DBEB6-891A-F7B6-7092-A76A498FF3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283C6C-DCB5-5DFD-8F67-AE2326415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28E55-2978-43C1-94A6-CED4C61C482A}" type="datetimeFigureOut">
              <a:rPr lang="el-GR" smtClean="0"/>
              <a:t>25/6/2025</a:t>
            </a:fld>
            <a:endParaRPr lang="el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FE4726-F7E7-9897-CF65-B9A81853F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2C472-7D6E-27DB-8A65-DCB8E9E00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1CA44-2E1B-4B61-BB73-2696F506EE99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18640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B3282-E5FF-D52D-DCD3-FE1A25A21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6AE1A3-F565-C17B-93BB-4474F9CE0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28E55-2978-43C1-94A6-CED4C61C482A}" type="datetimeFigureOut">
              <a:rPr lang="el-GR" smtClean="0"/>
              <a:t>25/6/2025</a:t>
            </a:fld>
            <a:endParaRPr lang="el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EFE1FE-0417-FF1D-5A45-1819CC695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BE7A21-5E4C-E082-D2C0-4130CF66C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1CA44-2E1B-4B61-BB73-2696F506EE99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6630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796D53-8FF2-78A7-6522-D075838F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28E55-2978-43C1-94A6-CED4C61C482A}" type="datetimeFigureOut">
              <a:rPr lang="el-GR" smtClean="0"/>
              <a:t>25/6/2025</a:t>
            </a:fld>
            <a:endParaRPr lang="el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483D13-92DD-B821-706F-EE2BD6EFB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8DF65-C583-0484-BF6D-98EE82AE4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1CA44-2E1B-4B61-BB73-2696F506EE99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28425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403DD-40F9-4936-D38D-1F5D4E90B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872DF-B623-BC98-9C75-794F4D4D9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8F1F4B-8EE8-D2AE-9F00-A7980515E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E82B8-5EB0-ECCD-16B6-BB43A8909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28E55-2978-43C1-94A6-CED4C61C482A}" type="datetimeFigureOut">
              <a:rPr lang="el-GR" smtClean="0"/>
              <a:t>25/6/2025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C95A48-39DB-04D6-9AE3-D022754EC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B33318-E71A-75F5-C4D0-D510EE032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1CA44-2E1B-4B61-BB73-2696F506EE99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68315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F3A9E-601A-0A3A-398E-95D13F65E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A9AFD2-5BFD-223B-2200-7F703EAE34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9AC141-A7BB-4CAD-AABB-C479861EA7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BB7AB-F731-7DB4-CF66-AB46CD09A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28E55-2978-43C1-94A6-CED4C61C482A}" type="datetimeFigureOut">
              <a:rPr lang="el-GR" smtClean="0"/>
              <a:t>25/6/2025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4B38D4-3582-788A-FD9E-FB2F6DE9B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B9373-27EC-8541-0579-FA12A90A2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1CA44-2E1B-4B61-BB73-2696F506EE99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42047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FFE9A-5D40-F10B-CDE2-18D23441D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3BEB35-6565-D09E-1527-6EDCF655F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1A346-2CCB-0B55-70F8-ED163AA14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28E55-2978-43C1-94A6-CED4C61C482A}" type="datetimeFigureOut">
              <a:rPr lang="el-GR" smtClean="0"/>
              <a:t>25/6/2025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B7D62-4EA8-2E5C-7859-12826E85F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65560-8006-64DC-6142-7DFC9EF5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1CA44-2E1B-4B61-BB73-2696F506EE99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85395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9D84A6-891F-A9A6-CAD7-E8A9DDEBF7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C097C2-B4D2-78CB-9BE1-E90EA16728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C7F96-0193-657E-E68D-C7B5F88B4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28E55-2978-43C1-94A6-CED4C61C482A}" type="datetimeFigureOut">
              <a:rPr lang="el-GR" smtClean="0"/>
              <a:t>25/6/2025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27091-27EE-8447-DA52-E723BB954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C15B5-08BB-E68A-1C79-927B7F934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1CA44-2E1B-4B61-BB73-2696F506EE99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69703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266913" y="2655800"/>
            <a:ext cx="7743200" cy="15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9783375" y="6173432"/>
            <a:ext cx="128400" cy="128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/>
          <p:nvPr/>
        </p:nvSpPr>
        <p:spPr>
          <a:xfrm>
            <a:off x="10386991" y="5576535"/>
            <a:ext cx="128400" cy="128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" name="Google Shape;13;p2"/>
          <p:cNvSpPr/>
          <p:nvPr/>
        </p:nvSpPr>
        <p:spPr>
          <a:xfrm>
            <a:off x="11857671" y="4444464"/>
            <a:ext cx="76800" cy="76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" name="Google Shape;14;p2"/>
          <p:cNvSpPr/>
          <p:nvPr/>
        </p:nvSpPr>
        <p:spPr>
          <a:xfrm>
            <a:off x="11695069" y="6565033"/>
            <a:ext cx="128400" cy="128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" name="Google Shape;15;p2"/>
          <p:cNvSpPr/>
          <p:nvPr/>
        </p:nvSpPr>
        <p:spPr>
          <a:xfrm>
            <a:off x="3181688" y="677512"/>
            <a:ext cx="128400" cy="128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" name="Google Shape;16;p2"/>
          <p:cNvSpPr/>
          <p:nvPr/>
        </p:nvSpPr>
        <p:spPr>
          <a:xfrm>
            <a:off x="639280" y="3605307"/>
            <a:ext cx="128400" cy="128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" name="Google Shape;17;p2"/>
          <p:cNvSpPr/>
          <p:nvPr/>
        </p:nvSpPr>
        <p:spPr>
          <a:xfrm>
            <a:off x="348720" y="857463"/>
            <a:ext cx="128400" cy="128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" name="Google Shape;18;p2"/>
          <p:cNvSpPr/>
          <p:nvPr/>
        </p:nvSpPr>
        <p:spPr>
          <a:xfrm>
            <a:off x="676313" y="1441151"/>
            <a:ext cx="256800" cy="2564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" name="Google Shape;19;p2"/>
          <p:cNvSpPr/>
          <p:nvPr/>
        </p:nvSpPr>
        <p:spPr>
          <a:xfrm>
            <a:off x="11085359" y="4833763"/>
            <a:ext cx="192400" cy="192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" name="Google Shape;20;p2"/>
          <p:cNvSpPr/>
          <p:nvPr/>
        </p:nvSpPr>
        <p:spPr>
          <a:xfrm>
            <a:off x="11843811" y="5582348"/>
            <a:ext cx="192400" cy="192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Google Shape;21;p2"/>
          <p:cNvSpPr/>
          <p:nvPr/>
        </p:nvSpPr>
        <p:spPr>
          <a:xfrm>
            <a:off x="211084" y="2128745"/>
            <a:ext cx="76800" cy="76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" name="Google Shape;22;p2"/>
          <p:cNvSpPr/>
          <p:nvPr/>
        </p:nvSpPr>
        <p:spPr>
          <a:xfrm>
            <a:off x="1861977" y="301904"/>
            <a:ext cx="256800" cy="2564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" name="Google Shape;23;p2"/>
          <p:cNvSpPr/>
          <p:nvPr/>
        </p:nvSpPr>
        <p:spPr>
          <a:xfrm>
            <a:off x="823323" y="2667459"/>
            <a:ext cx="76800" cy="76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" name="Google Shape;24;p2"/>
          <p:cNvSpPr/>
          <p:nvPr/>
        </p:nvSpPr>
        <p:spPr>
          <a:xfrm>
            <a:off x="4567031" y="517173"/>
            <a:ext cx="76800" cy="76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2"/>
          <p:cNvSpPr/>
          <p:nvPr/>
        </p:nvSpPr>
        <p:spPr>
          <a:xfrm>
            <a:off x="10685372" y="6090061"/>
            <a:ext cx="256800" cy="2564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208848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>
            <a:spLocks noGrp="1"/>
          </p:cNvSpPr>
          <p:nvPr>
            <p:ph type="ctrTitle"/>
          </p:nvPr>
        </p:nvSpPr>
        <p:spPr>
          <a:xfrm>
            <a:off x="2061367" y="2339725"/>
            <a:ext cx="77768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 b="1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 b="1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 b="1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 b="1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 b="1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 b="1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 b="1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 b="1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 b="1"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>
            <a:off x="2061367" y="4015348"/>
            <a:ext cx="77768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4000"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4000"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4000"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4000"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4000"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4000"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4000"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4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97273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"/>
          <p:cNvPicPr preferRelativeResize="0"/>
          <p:nvPr/>
        </p:nvPicPr>
        <p:blipFill rotWithShape="1">
          <a:blip r:embed="rId2">
            <a:alphaModFix/>
          </a:blip>
          <a:srcRect l="19" r="19"/>
          <a:stretch/>
        </p:blipFill>
        <p:spPr>
          <a:xfrm rot="10800000" flipH="1">
            <a:off x="7936" y="0"/>
            <a:ext cx="1218746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1620400" y="2298200"/>
            <a:ext cx="8951200" cy="10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609585" algn="ctr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Char char="◎"/>
              <a:defRPr sz="4800" i="1"/>
            </a:lvl1pPr>
            <a:lvl2pPr marL="1219170" lvl="1" indent="-60958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  <a:defRPr sz="4800" i="1"/>
            </a:lvl2pPr>
            <a:lvl3pPr marL="1828754" lvl="2" indent="-60958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◉"/>
              <a:defRPr sz="4800" i="1"/>
            </a:lvl3pPr>
            <a:lvl4pPr marL="2438339" lvl="3" indent="-609585" algn="ctr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4800" i="1"/>
            </a:lvl4pPr>
            <a:lvl5pPr marL="3047924" lvl="4" indent="-609585" algn="ctr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4800" i="1"/>
            </a:lvl5pPr>
            <a:lvl6pPr marL="3657509" lvl="5" indent="-609585" algn="ctr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4800" i="1"/>
            </a:lvl6pPr>
            <a:lvl7pPr marL="4267093" lvl="6" indent="-609585" algn="ctr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4800" i="1"/>
            </a:lvl7pPr>
            <a:lvl8pPr marL="4876678" lvl="7" indent="-609585" algn="ctr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4800" i="1"/>
            </a:lvl8pPr>
            <a:lvl9pPr marL="5486263" lvl="8" indent="-60958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4800" i="1"/>
            </a:lvl9pPr>
          </a:lstStyle>
          <a:p>
            <a:endParaRPr/>
          </a:p>
        </p:txBody>
      </p:sp>
      <p:grpSp>
        <p:nvGrpSpPr>
          <p:cNvPr id="32" name="Google Shape;32;p4"/>
          <p:cNvGrpSpPr/>
          <p:nvPr/>
        </p:nvGrpSpPr>
        <p:grpSpPr>
          <a:xfrm>
            <a:off x="5119529" y="1043892"/>
            <a:ext cx="1952764" cy="1123609"/>
            <a:chOff x="3593400" y="1729675"/>
            <a:chExt cx="1957200" cy="1123610"/>
          </a:xfrm>
        </p:grpSpPr>
        <p:sp>
          <p:nvSpPr>
            <p:cNvPr id="33" name="Google Shape;33;p4"/>
            <p:cNvSpPr txBox="1"/>
            <p:nvPr/>
          </p:nvSpPr>
          <p:spPr>
            <a:xfrm>
              <a:off x="3593400" y="1729675"/>
              <a:ext cx="1957200" cy="8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0" b="1">
                  <a:solidFill>
                    <a:schemeClr val="accent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“</a:t>
              </a:r>
              <a:endParaRPr sz="80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4025400" y="1760085"/>
              <a:ext cx="1093200" cy="1093200"/>
            </a:xfrm>
            <a:prstGeom prst="ellipse">
              <a:avLst/>
            </a:prstGeom>
            <a:noFill/>
            <a:ln w="9525" cap="flat" cmpd="sng">
              <a:solidFill>
                <a:srgbClr val="CFD8DC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4190700" y="1925385"/>
              <a:ext cx="762600" cy="762600"/>
            </a:xfrm>
            <a:prstGeom prst="ellipse">
              <a:avLst/>
            </a:prstGeom>
            <a:noFill/>
            <a:ln w="19050" cap="flat" cmpd="sng">
              <a:solidFill>
                <a:srgbClr val="CFD8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36" name="Google Shape;36;p4"/>
          <p:cNvCxnSpPr>
            <a:endCxn id="34" idx="1"/>
          </p:cNvCxnSpPr>
          <p:nvPr/>
        </p:nvCxnSpPr>
        <p:spPr>
          <a:xfrm>
            <a:off x="5000681" y="520396"/>
            <a:ext cx="709600" cy="7140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Google Shape;37;p4"/>
          <p:cNvCxnSpPr/>
          <p:nvPr/>
        </p:nvCxnSpPr>
        <p:spPr>
          <a:xfrm rot="10800000">
            <a:off x="5817203" y="581500"/>
            <a:ext cx="278800" cy="4928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Google Shape;38;p4"/>
          <p:cNvCxnSpPr/>
          <p:nvPr/>
        </p:nvCxnSpPr>
        <p:spPr>
          <a:xfrm rot="10800000" flipH="1">
            <a:off x="6272680" y="469240"/>
            <a:ext cx="462800" cy="6328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Google Shape;39;p4"/>
          <p:cNvSpPr txBox="1">
            <a:spLocks noGrp="1"/>
          </p:cNvSpPr>
          <p:nvPr>
            <p:ph type="sldNum" idx="12"/>
          </p:nvPr>
        </p:nvSpPr>
        <p:spPr>
          <a:xfrm>
            <a:off x="-116" y="6333125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93505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1048200" y="410827"/>
            <a:ext cx="10095600" cy="9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1"/>
          </p:nvPr>
        </p:nvSpPr>
        <p:spPr>
          <a:xfrm>
            <a:off x="1048200" y="1682267"/>
            <a:ext cx="10095600" cy="47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507987">
              <a:spcBef>
                <a:spcPts val="800"/>
              </a:spcBef>
              <a:spcAft>
                <a:spcPts val="0"/>
              </a:spcAft>
              <a:buSzPts val="2400"/>
              <a:buChar char="◎"/>
              <a:defRPr sz="3200"/>
            </a:lvl1pPr>
            <a:lvl2pPr marL="1219170" lvl="1" indent="-507987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828754" lvl="2" indent="-507987">
              <a:spcBef>
                <a:spcPts val="0"/>
              </a:spcBef>
              <a:spcAft>
                <a:spcPts val="0"/>
              </a:spcAft>
              <a:buSzPts val="2400"/>
              <a:buChar char="◉"/>
              <a:defRPr/>
            </a:lvl3pPr>
            <a:lvl4pPr marL="2438339" lvl="3" indent="-507987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3200"/>
            </a:lvl4pPr>
            <a:lvl5pPr marL="3047924" lvl="4" indent="-50798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3200"/>
            </a:lvl5pPr>
            <a:lvl6pPr marL="3657509" lvl="5" indent="-507987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3200"/>
            </a:lvl6pPr>
            <a:lvl7pPr marL="4267093" lvl="6" indent="-507987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3200"/>
            </a:lvl7pPr>
            <a:lvl8pPr marL="4876678" lvl="7" indent="-50798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3200"/>
            </a:lvl8pPr>
            <a:lvl9pPr marL="5486263" lvl="8" indent="-507987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3200"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112058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66507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1048200" y="410827"/>
            <a:ext cx="10095600" cy="9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1048183" y="1600200"/>
            <a:ext cx="4900400" cy="49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SzPts val="2000"/>
              <a:buChar char="◎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6243545" y="1600200"/>
            <a:ext cx="4900400" cy="49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SzPts val="2000"/>
              <a:buChar char="◎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112058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96683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1048200" y="410827"/>
            <a:ext cx="10095600" cy="9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1048200" y="1600200"/>
            <a:ext cx="3226400" cy="49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Char char="◎"/>
              <a:defRPr sz="2400"/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2400"/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2"/>
          </p:nvPr>
        </p:nvSpPr>
        <p:spPr>
          <a:xfrm>
            <a:off x="4439989" y="1600200"/>
            <a:ext cx="3226400" cy="49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Char char="◎"/>
              <a:defRPr sz="2400"/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2400"/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3"/>
          </p:nvPr>
        </p:nvSpPr>
        <p:spPr>
          <a:xfrm>
            <a:off x="7831779" y="1600200"/>
            <a:ext cx="3226400" cy="49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Char char="◎"/>
              <a:defRPr sz="2400"/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2400"/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112058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80814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1048200" y="410827"/>
            <a:ext cx="10095600" cy="9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112058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6460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609600" y="5407124"/>
            <a:ext cx="10972800" cy="4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04792" algn="ctr">
              <a:spcBef>
                <a:spcPts val="480"/>
              </a:spcBef>
              <a:spcAft>
                <a:spcPts val="0"/>
              </a:spcAft>
              <a:buSzPts val="1800"/>
              <a:buNone/>
              <a:defRPr sz="2400"/>
            </a:lvl1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-123" y="6333125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24715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sldNum" idx="12"/>
          </p:nvPr>
        </p:nvSpPr>
        <p:spPr>
          <a:xfrm>
            <a:off x="112058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3082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omplete pattern">
  <p:cSld name="Blank complete patter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>
            <a:off x="-35400" y="-19800"/>
            <a:ext cx="12262800" cy="6897600"/>
          </a:xfrm>
          <a:prstGeom prst="rect">
            <a:avLst/>
          </a:prstGeom>
          <a:solidFill>
            <a:srgbClr val="CFD8DC">
              <a:alpha val="4923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112058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1142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C5B4E-B37A-42FE-AD0A-48A006152D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124" y="28575"/>
            <a:ext cx="11731752" cy="96202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E130486-F789-C1FE-9ED5-86D9266384E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20298" y="2307023"/>
            <a:ext cx="1871210" cy="1871210"/>
          </a:xfrm>
          <a:custGeom>
            <a:avLst/>
            <a:gdLst>
              <a:gd name="connsiteX0" fmla="*/ 680210 w 1871210"/>
              <a:gd name="connsiteY0" fmla="*/ 0 h 1871210"/>
              <a:gd name="connsiteX1" fmla="*/ 1871210 w 1871210"/>
              <a:gd name="connsiteY1" fmla="*/ 0 h 1871210"/>
              <a:gd name="connsiteX2" fmla="*/ 1871210 w 1871210"/>
              <a:gd name="connsiteY2" fmla="*/ 1871210 h 1871210"/>
              <a:gd name="connsiteX3" fmla="*/ 0 w 1871210"/>
              <a:gd name="connsiteY3" fmla="*/ 1871210 h 1871210"/>
              <a:gd name="connsiteX4" fmla="*/ 0 w 1871210"/>
              <a:gd name="connsiteY4" fmla="*/ 663088 h 1871210"/>
              <a:gd name="connsiteX5" fmla="*/ 680210 w 1871210"/>
              <a:gd name="connsiteY5" fmla="*/ 663088 h 1871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71210" h="1871210">
                <a:moveTo>
                  <a:pt x="680210" y="0"/>
                </a:moveTo>
                <a:lnTo>
                  <a:pt x="1871210" y="0"/>
                </a:lnTo>
                <a:lnTo>
                  <a:pt x="1871210" y="1871210"/>
                </a:lnTo>
                <a:lnTo>
                  <a:pt x="0" y="1871210"/>
                </a:lnTo>
                <a:lnTo>
                  <a:pt x="0" y="663088"/>
                </a:lnTo>
                <a:lnTo>
                  <a:pt x="680210" y="6630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anchor="b">
            <a:noAutofit/>
          </a:bodyPr>
          <a:lstStyle>
            <a:lvl1pPr marL="0" indent="0" algn="ctr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4BB10F-7E48-4E69-4682-61B98C72B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298" y="2307023"/>
            <a:ext cx="680210" cy="6802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78525AA-E3C7-4847-51CB-8070CCEA2AB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0298" y="2308260"/>
            <a:ext cx="784627" cy="891602"/>
          </a:xfrm>
        </p:spPr>
        <p:txBody>
          <a:bodyPr tIns="0" rIns="0">
            <a:noAutofit/>
          </a:bodyPr>
          <a:lstStyle>
            <a:lvl1pPr marL="0" indent="0" algn="r">
              <a:lnSpc>
                <a:spcPct val="75000"/>
              </a:lnSpc>
              <a:spcBef>
                <a:spcPts val="0"/>
              </a:spcBef>
              <a:buNone/>
              <a:defRPr sz="3200" b="1" cap="all" baseline="0">
                <a:ln w="31750"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xxxx</a:t>
            </a:r>
            <a:endParaRPr lang="en-US" dirty="0"/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7E09C742-5D77-43A5-A33A-73D138825C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0299" y="4191996"/>
            <a:ext cx="2299102" cy="693081"/>
          </a:xfrm>
        </p:spPr>
        <p:txBody>
          <a:bodyPr lIns="0" rIns="0" anchor="b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C0B3A230-8B78-438B-8350-7C8430DEEFF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299" y="4939990"/>
            <a:ext cx="2299102" cy="419100"/>
          </a:xfrm>
        </p:spPr>
        <p:txBody>
          <a:bodyPr lIns="0" r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5DE6B3F-BCDF-FF6E-F5DD-BAF26A49D44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568881" y="2307023"/>
            <a:ext cx="1871210" cy="1871210"/>
          </a:xfrm>
          <a:custGeom>
            <a:avLst/>
            <a:gdLst>
              <a:gd name="connsiteX0" fmla="*/ 680210 w 1871210"/>
              <a:gd name="connsiteY0" fmla="*/ 0 h 1871210"/>
              <a:gd name="connsiteX1" fmla="*/ 1871210 w 1871210"/>
              <a:gd name="connsiteY1" fmla="*/ 0 h 1871210"/>
              <a:gd name="connsiteX2" fmla="*/ 1871210 w 1871210"/>
              <a:gd name="connsiteY2" fmla="*/ 1871210 h 1871210"/>
              <a:gd name="connsiteX3" fmla="*/ 0 w 1871210"/>
              <a:gd name="connsiteY3" fmla="*/ 1871210 h 1871210"/>
              <a:gd name="connsiteX4" fmla="*/ 0 w 1871210"/>
              <a:gd name="connsiteY4" fmla="*/ 663088 h 1871210"/>
              <a:gd name="connsiteX5" fmla="*/ 680210 w 1871210"/>
              <a:gd name="connsiteY5" fmla="*/ 663088 h 1871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71210" h="1871210">
                <a:moveTo>
                  <a:pt x="680210" y="0"/>
                </a:moveTo>
                <a:lnTo>
                  <a:pt x="1871210" y="0"/>
                </a:lnTo>
                <a:lnTo>
                  <a:pt x="1871210" y="1871210"/>
                </a:lnTo>
                <a:lnTo>
                  <a:pt x="0" y="1871210"/>
                </a:lnTo>
                <a:lnTo>
                  <a:pt x="0" y="663088"/>
                </a:lnTo>
                <a:lnTo>
                  <a:pt x="680210" y="6630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anchor="b">
            <a:noAutofit/>
          </a:bodyPr>
          <a:lstStyle>
            <a:lvl1pPr marL="0" indent="0" algn="ctr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7F787F-FDC0-52A9-42EF-FF0D59C8A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68881" y="2307023"/>
            <a:ext cx="680210" cy="6802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D34F37C-CEBE-E1DF-5361-771F61826D4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68881" y="2308260"/>
            <a:ext cx="784627" cy="891602"/>
          </a:xfrm>
        </p:spPr>
        <p:txBody>
          <a:bodyPr tIns="0" rIns="0">
            <a:noAutofit/>
          </a:bodyPr>
          <a:lstStyle>
            <a:lvl1pPr marL="0" indent="0" algn="r">
              <a:lnSpc>
                <a:spcPct val="75000"/>
              </a:lnSpc>
              <a:spcBef>
                <a:spcPts val="0"/>
              </a:spcBef>
              <a:buNone/>
              <a:defRPr sz="3200" b="1" cap="all" baseline="0">
                <a:ln w="31750"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xxxx</a:t>
            </a:r>
            <a:endParaRPr lang="en-US" dirty="0"/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878C8350-ACA7-4A8E-B350-5311BA0646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69300" y="4191996"/>
            <a:ext cx="2299103" cy="693081"/>
          </a:xfrm>
        </p:spPr>
        <p:txBody>
          <a:bodyPr lIns="0" rIns="0" anchor="b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6" name="Text Placeholder 29">
            <a:extLst>
              <a:ext uri="{FF2B5EF4-FFF2-40B4-BE49-F238E27FC236}">
                <a16:creationId xmlns:a16="http://schemas.microsoft.com/office/drawing/2014/main" id="{ED6E9576-E633-4CDE-B44E-7E810BB8B41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68881" y="4939990"/>
            <a:ext cx="2299103" cy="419100"/>
          </a:xfrm>
        </p:spPr>
        <p:txBody>
          <a:bodyPr lIns="0" r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2961185-48A1-D8E3-F6F5-303F60C0D18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17615" y="2307023"/>
            <a:ext cx="1871210" cy="1871210"/>
          </a:xfrm>
          <a:custGeom>
            <a:avLst/>
            <a:gdLst>
              <a:gd name="connsiteX0" fmla="*/ 680210 w 1871210"/>
              <a:gd name="connsiteY0" fmla="*/ 0 h 1871210"/>
              <a:gd name="connsiteX1" fmla="*/ 1871210 w 1871210"/>
              <a:gd name="connsiteY1" fmla="*/ 0 h 1871210"/>
              <a:gd name="connsiteX2" fmla="*/ 1871210 w 1871210"/>
              <a:gd name="connsiteY2" fmla="*/ 1871210 h 1871210"/>
              <a:gd name="connsiteX3" fmla="*/ 0 w 1871210"/>
              <a:gd name="connsiteY3" fmla="*/ 1871210 h 1871210"/>
              <a:gd name="connsiteX4" fmla="*/ 0 w 1871210"/>
              <a:gd name="connsiteY4" fmla="*/ 663088 h 1871210"/>
              <a:gd name="connsiteX5" fmla="*/ 680210 w 1871210"/>
              <a:gd name="connsiteY5" fmla="*/ 663088 h 1871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71210" h="1871210">
                <a:moveTo>
                  <a:pt x="680210" y="0"/>
                </a:moveTo>
                <a:lnTo>
                  <a:pt x="1871210" y="0"/>
                </a:lnTo>
                <a:lnTo>
                  <a:pt x="1871210" y="1871210"/>
                </a:lnTo>
                <a:lnTo>
                  <a:pt x="0" y="1871210"/>
                </a:lnTo>
                <a:lnTo>
                  <a:pt x="0" y="663088"/>
                </a:lnTo>
                <a:lnTo>
                  <a:pt x="680210" y="6630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anchor="b">
            <a:noAutofit/>
          </a:bodyPr>
          <a:lstStyle>
            <a:lvl1pPr marL="0" indent="0" algn="ctr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03EDF6-0B7E-2391-859E-ED7D4C343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17615" y="2307023"/>
            <a:ext cx="680210" cy="6802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05DFB3A7-9240-8723-C04B-8621F1B87B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17615" y="2308260"/>
            <a:ext cx="784627" cy="891602"/>
          </a:xfrm>
        </p:spPr>
        <p:txBody>
          <a:bodyPr tIns="0" rIns="0">
            <a:noAutofit/>
          </a:bodyPr>
          <a:lstStyle>
            <a:lvl1pPr marL="0" indent="0" algn="r">
              <a:lnSpc>
                <a:spcPct val="75000"/>
              </a:lnSpc>
              <a:spcBef>
                <a:spcPts val="0"/>
              </a:spcBef>
              <a:buNone/>
              <a:defRPr sz="3200" b="1" cap="all" baseline="0">
                <a:ln w="31750"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xxxx</a:t>
            </a:r>
            <a:endParaRPr lang="en-US" dirty="0"/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2A8EB81-781B-48A6-AEC3-3C6467F831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6299" y="4191996"/>
            <a:ext cx="2299102" cy="693081"/>
          </a:xfrm>
        </p:spPr>
        <p:txBody>
          <a:bodyPr lIns="0" rIns="0" anchor="b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7" name="Text Placeholder 29">
            <a:extLst>
              <a:ext uri="{FF2B5EF4-FFF2-40B4-BE49-F238E27FC236}">
                <a16:creationId xmlns:a16="http://schemas.microsoft.com/office/drawing/2014/main" id="{839F3D9E-A504-4099-B225-3C7C0823F1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16299" y="4939990"/>
            <a:ext cx="2299102" cy="419100"/>
          </a:xfrm>
        </p:spPr>
        <p:txBody>
          <a:bodyPr lIns="0" r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FE501532-06AD-B03C-CB71-A9894AB80C23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666198" y="2307023"/>
            <a:ext cx="1871210" cy="1871210"/>
          </a:xfrm>
          <a:custGeom>
            <a:avLst/>
            <a:gdLst>
              <a:gd name="connsiteX0" fmla="*/ 680210 w 1871210"/>
              <a:gd name="connsiteY0" fmla="*/ 0 h 1871210"/>
              <a:gd name="connsiteX1" fmla="*/ 1871210 w 1871210"/>
              <a:gd name="connsiteY1" fmla="*/ 0 h 1871210"/>
              <a:gd name="connsiteX2" fmla="*/ 1871210 w 1871210"/>
              <a:gd name="connsiteY2" fmla="*/ 1871210 h 1871210"/>
              <a:gd name="connsiteX3" fmla="*/ 0 w 1871210"/>
              <a:gd name="connsiteY3" fmla="*/ 1871210 h 1871210"/>
              <a:gd name="connsiteX4" fmla="*/ 0 w 1871210"/>
              <a:gd name="connsiteY4" fmla="*/ 663088 h 1871210"/>
              <a:gd name="connsiteX5" fmla="*/ 680210 w 1871210"/>
              <a:gd name="connsiteY5" fmla="*/ 663088 h 1871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71210" h="1871210">
                <a:moveTo>
                  <a:pt x="680210" y="0"/>
                </a:moveTo>
                <a:lnTo>
                  <a:pt x="1871210" y="0"/>
                </a:lnTo>
                <a:lnTo>
                  <a:pt x="1871210" y="1871210"/>
                </a:lnTo>
                <a:lnTo>
                  <a:pt x="0" y="1871210"/>
                </a:lnTo>
                <a:lnTo>
                  <a:pt x="0" y="663088"/>
                </a:lnTo>
                <a:lnTo>
                  <a:pt x="680210" y="6630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anchor="b">
            <a:noAutofit/>
          </a:bodyPr>
          <a:lstStyle>
            <a:lvl1pPr marL="0" indent="0" algn="ctr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A943CF-6AD5-3C41-E2B3-70E28E914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66198" y="2307023"/>
            <a:ext cx="680210" cy="6802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5D3D0017-E970-9E79-9960-C6E38B5D907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666198" y="2308260"/>
            <a:ext cx="784627" cy="891602"/>
          </a:xfrm>
        </p:spPr>
        <p:txBody>
          <a:bodyPr tIns="0" rIns="0">
            <a:noAutofit/>
          </a:bodyPr>
          <a:lstStyle>
            <a:lvl1pPr marL="0" indent="0" algn="r">
              <a:lnSpc>
                <a:spcPct val="75000"/>
              </a:lnSpc>
              <a:spcBef>
                <a:spcPts val="0"/>
              </a:spcBef>
              <a:buNone/>
              <a:defRPr sz="3200" b="1" cap="all" baseline="0">
                <a:ln w="31750"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xxxx</a:t>
            </a:r>
            <a:endParaRPr lang="en-US" dirty="0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A9EE98B1-8D2A-449C-96EF-F184DF6107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56633" y="4191996"/>
            <a:ext cx="2306767" cy="693081"/>
          </a:xfrm>
        </p:spPr>
        <p:txBody>
          <a:bodyPr lIns="0" rIns="0" anchor="b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8" name="Text Placeholder 29">
            <a:extLst>
              <a:ext uri="{FF2B5EF4-FFF2-40B4-BE49-F238E27FC236}">
                <a16:creationId xmlns:a16="http://schemas.microsoft.com/office/drawing/2014/main" id="{0ACDF000-4FBF-40D1-A089-C38F77F418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56633" y="4939990"/>
            <a:ext cx="2306767" cy="419100"/>
          </a:xfrm>
        </p:spPr>
        <p:txBody>
          <a:bodyPr lIns="0" r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7007772-CDC0-1612-CE7D-6E8A3217B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9891" y="4198988"/>
            <a:ext cx="11018626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7509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1920">
          <p15:clr>
            <a:srgbClr val="FBAE40"/>
          </p15:clr>
        </p15:guide>
        <p15:guide id="2" pos="3840">
          <p15:clr>
            <a:srgbClr val="FBAE40"/>
          </p15:clr>
        </p15:guide>
        <p15:guide id="3" pos="5760">
          <p15:clr>
            <a:srgbClr val="FBAE40"/>
          </p15:clr>
        </p15:guide>
        <p15:guide id="4" pos="3984">
          <p15:clr>
            <a:srgbClr val="5ACBF0"/>
          </p15:clr>
        </p15:guide>
        <p15:guide id="5" pos="3696">
          <p15:clr>
            <a:srgbClr val="5ACBF0"/>
          </p15:clr>
        </p15:guide>
        <p15:guide id="6" pos="2064">
          <p15:clr>
            <a:srgbClr val="5ACBF0"/>
          </p15:clr>
        </p15:guide>
        <p15:guide id="7" pos="1776">
          <p15:clr>
            <a:srgbClr val="5ACBF0"/>
          </p15:clr>
        </p15:guide>
        <p15:guide id="8" pos="5616">
          <p15:clr>
            <a:srgbClr val="5ACBF0"/>
          </p15:clr>
        </p15:guide>
        <p15:guide id="9" pos="5904">
          <p15:clr>
            <a:srgbClr val="5ACBF0"/>
          </p15:clr>
        </p15:guide>
        <p15:guide id="10" pos="144">
          <p15:clr>
            <a:srgbClr val="5ACBF0"/>
          </p15:clr>
        </p15:guide>
        <p15:guide id="11" orient="horz" pos="4176">
          <p15:clr>
            <a:srgbClr val="5ACBF0"/>
          </p15:clr>
        </p15:guide>
        <p15:guide id="12" pos="7536">
          <p15:clr>
            <a:srgbClr val="5ACBF0"/>
          </p15:clr>
        </p15:guide>
        <p15:guide id="13" orient="horz" pos="144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6A2E1E-1F0F-78C6-E586-300CB8235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C589C-D77B-B14D-E1E7-0640B80E4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56EBA-DD7F-5822-87D7-1D47BAB65D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528E55-2978-43C1-94A6-CED4C61C482A}" type="datetimeFigureOut">
              <a:rPr lang="el-GR" smtClean="0"/>
              <a:t>25/6/2025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B6993-7F4F-2092-8724-2CAF26F07F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A44F0-AAD1-8F37-FB2B-E057E42E0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F1CA44-2E1B-4B61-BB73-2696F506EE99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82555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48200" y="410827"/>
            <a:ext cx="10095600" cy="9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48200" y="1682267"/>
            <a:ext cx="10095600" cy="47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058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7862842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4.png"/><Relationship Id="rId5" Type="http://schemas.openxmlformats.org/officeDocument/2006/relationships/image" Target="../media/image14.png"/><Relationship Id="rId4" Type="http://schemas.openxmlformats.org/officeDocument/2006/relationships/image" Target="../media/image33.svg"/><Relationship Id="rId9" Type="http://schemas.openxmlformats.org/officeDocument/2006/relationships/image" Target="../media/image3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6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12" Type="http://schemas.openxmlformats.org/officeDocument/2006/relationships/image" Target="../media/image5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5.sv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svg"/><Relationship Id="rId4" Type="http://schemas.openxmlformats.org/officeDocument/2006/relationships/image" Target="../media/image21.png"/><Relationship Id="rId9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5.jpeg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1F32E-B3A9-3417-71CF-A54E90924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Autofit/>
          </a:bodyPr>
          <a:lstStyle/>
          <a:p>
            <a:r>
              <a:rPr lang="el-GR" sz="2400" b="1" dirty="0">
                <a:latin typeface="Arial Black" panose="020B0A04020102020204" pitchFamily="34" charset="0"/>
              </a:rPr>
              <a:t>Ανάλυση Δεδομένων για την Προγνωστική</a:t>
            </a:r>
            <a:br>
              <a:rPr lang="el-GR" sz="2400" b="1" dirty="0">
                <a:latin typeface="Arial Black" panose="020B0A04020102020204" pitchFamily="34" charset="0"/>
              </a:rPr>
            </a:br>
            <a:r>
              <a:rPr lang="el-GR" sz="2400" dirty="0">
                <a:latin typeface="Arial Black" panose="020B0A04020102020204" pitchFamily="34" charset="0"/>
              </a:rPr>
              <a:t>Μοντελοποίηση</a:t>
            </a:r>
            <a:r>
              <a:rPr lang="el-GR" sz="2400" b="1" dirty="0">
                <a:latin typeface="Arial Black" panose="020B0A04020102020204" pitchFamily="34" charset="0"/>
              </a:rPr>
              <a:t> του Μισθού των Παικτών του NΒΑ</a:t>
            </a:r>
            <a:endParaRPr lang="el-GR" sz="2400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CC790-F365-6592-7F2B-881ED16C7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1125" y="5202238"/>
            <a:ext cx="9144000" cy="1655762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l-GR" sz="1800" dirty="0">
                <a:latin typeface="Source Sans Pro" panose="020B0503030403020204" pitchFamily="34" charset="0"/>
                <a:ea typeface="Source Sans Pro" panose="020B0503030403020204" pitchFamily="34" charset="0"/>
                <a:cs typeface="+mj-cs"/>
              </a:rPr>
              <a:t>Εκπονών: Αραπάκης Παναγιώτης</a:t>
            </a:r>
            <a:br>
              <a:rPr lang="el-GR" sz="1800" dirty="0">
                <a:latin typeface="Source Sans Pro" panose="020B0503030403020204" pitchFamily="34" charset="0"/>
                <a:ea typeface="Source Sans Pro" panose="020B0503030403020204" pitchFamily="34" charset="0"/>
                <a:cs typeface="+mj-cs"/>
              </a:rPr>
            </a:br>
            <a:r>
              <a:rPr lang="el-GR" sz="1800" dirty="0">
                <a:latin typeface="Source Sans Pro" panose="020B0503030403020204" pitchFamily="34" charset="0"/>
                <a:ea typeface="Source Sans Pro" panose="020B0503030403020204" pitchFamily="34" charset="0"/>
                <a:cs typeface="+mj-cs"/>
              </a:rPr>
              <a:t>Επιβλέπων: Αραμπατζής Αυγερινός, Καθηγητής</a:t>
            </a:r>
            <a:r>
              <a:rPr lang="en-US" sz="1800" dirty="0">
                <a:latin typeface="Source Sans Pro" panose="020B0503030403020204" pitchFamily="34" charset="0"/>
                <a:ea typeface="Source Sans Pro" panose="020B0503030403020204" pitchFamily="34" charset="0"/>
                <a:cs typeface="+mj-cs"/>
              </a:rPr>
              <a:t> </a:t>
            </a:r>
          </a:p>
          <a:p>
            <a:pPr>
              <a:spcBef>
                <a:spcPct val="0"/>
              </a:spcBef>
            </a:pPr>
            <a:r>
              <a:rPr lang="el-GR" sz="1800" dirty="0">
                <a:latin typeface="Source Sans Pro" panose="020B0503030403020204" pitchFamily="34" charset="0"/>
                <a:ea typeface="Source Sans Pro" panose="020B0503030403020204" pitchFamily="34" charset="0"/>
                <a:cs typeface="+mj-cs"/>
              </a:rPr>
              <a:t>Ξάνθη,</a:t>
            </a:r>
            <a:r>
              <a:rPr lang="en-US" sz="1800" dirty="0">
                <a:latin typeface="Source Sans Pro" panose="020B0503030403020204" pitchFamily="34" charset="0"/>
                <a:ea typeface="Source Sans Pro" panose="020B0503030403020204" pitchFamily="34" charset="0"/>
                <a:cs typeface="+mj-cs"/>
              </a:rPr>
              <a:t> 2025</a:t>
            </a:r>
            <a:endParaRPr lang="el-GR" sz="1800" dirty="0">
              <a:latin typeface="Source Sans Pro" panose="020B0503030403020204" pitchFamily="34" charset="0"/>
              <a:ea typeface="Source Sans Pro" panose="020B0503030403020204" pitchFamily="34" charset="0"/>
              <a:cs typeface="+mj-cs"/>
            </a:endParaRPr>
          </a:p>
          <a:p>
            <a:endParaRPr lang="el-G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2299CC-1525-5F25-DE96-F8B56FB37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182" y="0"/>
            <a:ext cx="2949636" cy="23965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D77764-DE72-5537-6BF7-43BC60761CFE}"/>
              </a:ext>
            </a:extLst>
          </p:cNvPr>
          <p:cNvSpPr txBox="1"/>
          <p:nvPr/>
        </p:nvSpPr>
        <p:spPr>
          <a:xfrm>
            <a:off x="647700" y="2466975"/>
            <a:ext cx="11115675" cy="841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  <a:cs typeface="+mj-cs"/>
              </a:rPr>
              <a:t>Δημοκρίτειο Πανεπιστήμιο Θράκης</a:t>
            </a:r>
          </a:p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  <a:cs typeface="+mj-cs"/>
              </a:rPr>
              <a:t>Τμήμα Ηλεκτρολόγων Μηχανικών και Μηχανικών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  <a:cs typeface="+mj-cs"/>
              </a:rPr>
              <a:t> </a:t>
            </a: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  <a:cs typeface="+mj-cs"/>
              </a:rPr>
              <a:t>Υπολογιστών</a:t>
            </a:r>
          </a:p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  <a:cs typeface="+mj-cs"/>
              </a:rPr>
              <a:t>Τομέας Λογισμικού και Ανάπτυξης Εφαρμογών</a:t>
            </a:r>
          </a:p>
        </p:txBody>
      </p:sp>
    </p:spTree>
    <p:extLst>
      <p:ext uri="{BB962C8B-B14F-4D97-AF65-F5344CB8AC3E}">
        <p14:creationId xmlns:p14="http://schemas.microsoft.com/office/powerpoint/2010/main" val="2763863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0954F-8A31-8821-8E5A-90C955ABF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sz="3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Στόχος της εργασίας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5167E-F26B-675C-E863-FBCD95CCD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l-GR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Αξιοποίηση μεθόδων μηχανικής μάθησης για την πρόβλεψη του </a:t>
            </a:r>
            <a:r>
              <a:rPr lang="el-GR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μισθού</a:t>
            </a:r>
            <a:r>
              <a:rPr lang="el-GR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των παικτών χρησιμοποιώντας τα </a:t>
            </a:r>
            <a:r>
              <a:rPr lang="el-GR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ετήσια</a:t>
            </a:r>
            <a:r>
              <a:rPr lang="el-GR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l-GR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ατομικά τους στατιστικά</a:t>
            </a:r>
            <a:endParaRPr lang="en-US" sz="20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lnSpc>
                <a:spcPct val="150000"/>
              </a:lnSpc>
            </a:pPr>
            <a:r>
              <a:rPr lang="el-GR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Εντοπισμός των στατιστικών με την </a:t>
            </a:r>
            <a:r>
              <a:rPr lang="el-GR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μεγαλύτερη επιρροή</a:t>
            </a:r>
          </a:p>
          <a:p>
            <a:pPr>
              <a:lnSpc>
                <a:spcPct val="150000"/>
              </a:lnSpc>
            </a:pPr>
            <a:r>
              <a:rPr lang="el-GR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Εύρεση των </a:t>
            </a:r>
            <a:r>
              <a:rPr lang="el-GR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πιο</a:t>
            </a:r>
            <a:r>
              <a:rPr lang="el-GR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l-GR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αποτελεσματικών μοντέλων </a:t>
            </a:r>
            <a:r>
              <a:rPr lang="el-GR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παλινδρόμησης</a:t>
            </a:r>
          </a:p>
          <a:p>
            <a:endParaRPr lang="el-GR" dirty="0"/>
          </a:p>
        </p:txBody>
      </p:sp>
      <p:pic>
        <p:nvPicPr>
          <p:cNvPr id="5" name="Graphic 4" descr="Bullseye outline">
            <a:extLst>
              <a:ext uri="{FF2B5EF4-FFF2-40B4-BE49-F238E27FC236}">
                <a16:creationId xmlns:a16="http://schemas.microsoft.com/office/drawing/2014/main" id="{68359D0A-52A7-D86D-B162-C35A331E59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57345" y="5588145"/>
            <a:ext cx="1177636" cy="117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886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5F3DAE86-A9C5-C033-C70D-66A1B36BC16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"/>
            <a:ext cx="11686044" cy="68947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91195D0-4B24-6E28-9208-3C3B90141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sz="3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Γιατί επιλέχθηκε το </a:t>
            </a:r>
            <a:r>
              <a:rPr lang="en-US" sz="3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NBA</a:t>
            </a:r>
            <a:r>
              <a:rPr lang="el-GR" sz="3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36185-9378-3918-78E5-3E463D7BB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l-GR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Το ΝΒΑ (National Basketball Association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 </a:t>
            </a:r>
            <a:r>
              <a:rPr lang="el-GR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είναι η διοργανώτρια αρχή του ομώνυμου πρωταθλήματος καλαθοσφαίρισης των ΗΠΑ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r>
              <a:rPr lang="el-GR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Θεωρείται ευρέως ως το </a:t>
            </a:r>
            <a:r>
              <a:rPr lang="el-GR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κορυφαίο</a:t>
            </a:r>
            <a:r>
              <a:rPr lang="el-GR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επαγγελματικό πρωτάθλημα μπάσκετ στον κόσμο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  <a:endParaRPr lang="el-GR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l-GR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Απαρτίζεται από </a:t>
            </a:r>
            <a:r>
              <a:rPr lang="el-GR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30 ομάδες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r>
              <a:rPr lang="el-GR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Κατά τη διάρκεια της σεζόν 2023/24, οι ομάδες του πρωταθλήματος κατέγραψαν έσοδα ύψους </a:t>
            </a:r>
            <a:r>
              <a:rPr lang="el-GR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11,34 δισεκατομμυρίων $.</a:t>
            </a:r>
          </a:p>
          <a:p>
            <a:r>
              <a:rPr lang="el-GR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Στο NBA συγκεντρώνεται </a:t>
            </a:r>
            <a:r>
              <a:rPr lang="el-GR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τεράστιος όγκος δεδομένων</a:t>
            </a:r>
            <a:r>
              <a:rPr lang="el-GR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για την</a:t>
            </a:r>
          </a:p>
          <a:p>
            <a:pPr marL="0" indent="0">
              <a:buNone/>
            </a:pPr>
            <a:r>
              <a:rPr lang="el-GR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παρακολούθηση της απόδοσης των παικτών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  <a:endParaRPr lang="el-GR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7" name="Picture 6" descr="A basketball logo with a black background&#10;&#10;AI-generated content may be incorrect.">
            <a:extLst>
              <a:ext uri="{FF2B5EF4-FFF2-40B4-BE49-F238E27FC236}">
                <a16:creationId xmlns:a16="http://schemas.microsoft.com/office/drawing/2014/main" id="{89662877-580E-DBDD-2F94-BC04736281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9632" y="5097732"/>
            <a:ext cx="2428335" cy="242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198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ata Collection Methods | Primary and Secondary Data | GeeksforGeeks">
            <a:extLst>
              <a:ext uri="{FF2B5EF4-FFF2-40B4-BE49-F238E27FC236}">
                <a16:creationId xmlns:a16="http://schemas.microsoft.com/office/drawing/2014/main" id="{8B7DB24B-A5B7-4A3F-D157-9BDB52446822}"/>
              </a:ext>
            </a:extLst>
          </p:cNvPr>
          <p:cNvPicPr>
            <a:picLocks noGrp="1" noChangeAspect="1" noChangeArrowheads="1"/>
          </p:cNvPicPr>
          <p:nvPr>
            <p:ph type="pic" sz="quarter" idx="19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21" r="25021"/>
          <a:stretch>
            <a:fillRect/>
          </a:stretch>
        </p:blipFill>
        <p:spPr bwMode="auto">
          <a:xfrm>
            <a:off x="459666" y="1161785"/>
            <a:ext cx="1871210" cy="1871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7F266011-39DA-468E-BA05-006148E95A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233" y="3261171"/>
            <a:ext cx="2299102" cy="693081"/>
          </a:xfrm>
        </p:spPr>
        <p:txBody>
          <a:bodyPr lIns="0" rIns="0" anchor="t"/>
          <a:lstStyle/>
          <a:p>
            <a:pPr algn="ctr"/>
            <a:r>
              <a:rPr lang="el-GR" sz="1600" b="0" cap="none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Συλλογή Δεδομένων </a:t>
            </a:r>
            <a:endParaRPr lang="en-US" sz="1600" b="0" cap="none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77AD842D-C4A8-46AA-BA73-34496B674C5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89994" y="3261171"/>
            <a:ext cx="2840735" cy="693081"/>
          </a:xfrm>
        </p:spPr>
        <p:txBody>
          <a:bodyPr lIns="0" rIns="0" anchor="t"/>
          <a:lstStyle/>
          <a:p>
            <a:pPr algn="ctr"/>
            <a:r>
              <a:rPr lang="el-GR" sz="1600" b="0" cap="none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Προεπεξεργασία</a:t>
            </a:r>
            <a:r>
              <a:rPr lang="en-US" sz="1600" b="0" cap="none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l-GR" sz="1600" b="0" cap="none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Δεδομένων</a:t>
            </a:r>
            <a:r>
              <a:rPr lang="en-US" sz="1600" b="0" cap="none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algn="ctr"/>
            <a:r>
              <a:rPr lang="en-US" sz="1600" b="0" cap="none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(Data preprocessing)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0A6DD91F-81BC-47BF-A383-C5F885BCEEC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11808" y="3261171"/>
            <a:ext cx="2299102" cy="693081"/>
          </a:xfrm>
        </p:spPr>
        <p:txBody>
          <a:bodyPr lIns="0" rIns="0" anchor="t"/>
          <a:lstStyle/>
          <a:p>
            <a:pPr algn="ctr"/>
            <a:r>
              <a:rPr lang="el-GR" sz="1600" b="0" cap="none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Μελέτη Συσχέτισης</a:t>
            </a:r>
            <a:r>
              <a:rPr lang="en-US" sz="1600" b="0" cap="none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(Correlation)</a:t>
            </a:r>
            <a:r>
              <a:rPr lang="el-GR" sz="1600" b="0" cap="none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Δεδομένων</a:t>
            </a:r>
            <a:endParaRPr lang="en-US" sz="1600" b="0" cap="none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84DDDC3A-EC3B-4BEB-86C4-554F99B22BC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96000" y="3261171"/>
            <a:ext cx="2306767" cy="693081"/>
          </a:xfrm>
        </p:spPr>
        <p:txBody>
          <a:bodyPr lIns="0" rIns="0" anchor="t"/>
          <a:lstStyle/>
          <a:p>
            <a:pPr algn="ctr"/>
            <a:r>
              <a:rPr lang="el-GR" sz="1600" b="0" cap="none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Εκπαίδευση μοντέλων και Αξιολόγηση</a:t>
            </a:r>
          </a:p>
        </p:txBody>
      </p:sp>
      <p:sp>
        <p:nvSpPr>
          <p:cNvPr id="11" name="Text Placeholder 49">
            <a:extLst>
              <a:ext uri="{FF2B5EF4-FFF2-40B4-BE49-F238E27FC236}">
                <a16:creationId xmlns:a16="http://schemas.microsoft.com/office/drawing/2014/main" id="{673FDEDC-497A-0510-84CF-8E4B4CCDF1CE}"/>
              </a:ext>
            </a:extLst>
          </p:cNvPr>
          <p:cNvSpPr txBox="1">
            <a:spLocks/>
          </p:cNvSpPr>
          <p:nvPr/>
        </p:nvSpPr>
        <p:spPr>
          <a:xfrm>
            <a:off x="192134" y="6011795"/>
            <a:ext cx="2299102" cy="69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None/>
              <a:defRPr sz="2000" b="1" i="0" u="none" strike="noStrike" cap="all" baseline="0">
                <a:solidFill>
                  <a:schemeClr val="accent5"/>
                </a:solidFill>
                <a:latin typeface="+mj-lt"/>
                <a:ea typeface="Source Sans Pro"/>
                <a:cs typeface="Source Sans Pro"/>
                <a:sym typeface="Source Sans Pro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None/>
              <a:defRPr sz="16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None/>
              <a:defRPr sz="16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None/>
              <a:defRPr sz="16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None/>
              <a:defRPr sz="16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/>
            <a:r>
              <a:rPr lang="el-GR" sz="1600" b="0" kern="0" cap="none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Βελτιστοποίηση</a:t>
            </a:r>
            <a:endParaRPr lang="en-US" sz="1800" b="0" kern="0" cap="none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7" name="Picture 16" descr="A red and white grid&#10;&#10;AI-generated content may be incorrect.">
            <a:extLst>
              <a:ext uri="{FF2B5EF4-FFF2-40B4-BE49-F238E27FC236}">
                <a16:creationId xmlns:a16="http://schemas.microsoft.com/office/drawing/2014/main" id="{3D104D9D-39EA-9904-D815-44A07819F93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7950" y="1161785"/>
            <a:ext cx="2386818" cy="2099386"/>
          </a:xfrm>
          <a:prstGeom prst="rect">
            <a:avLst/>
          </a:prstGeom>
        </p:spPr>
      </p:pic>
      <p:pic>
        <p:nvPicPr>
          <p:cNvPr id="19" name="Graphic 18" descr="Gears with solid fill">
            <a:extLst>
              <a:ext uri="{FF2B5EF4-FFF2-40B4-BE49-F238E27FC236}">
                <a16:creationId xmlns:a16="http://schemas.microsoft.com/office/drawing/2014/main" id="{0A1327A5-577C-F393-8CAA-F609B5DEE0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49591" y="1161785"/>
            <a:ext cx="1918304" cy="1918304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26637472-0222-20F5-C854-5977607104F7}"/>
              </a:ext>
            </a:extLst>
          </p:cNvPr>
          <p:cNvGrpSpPr/>
          <p:nvPr/>
        </p:nvGrpSpPr>
        <p:grpSpPr>
          <a:xfrm>
            <a:off x="169725" y="4216483"/>
            <a:ext cx="2589044" cy="1871211"/>
            <a:chOff x="8862552" y="4428819"/>
            <a:chExt cx="3061594" cy="2220999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4855EE94-EB3E-5BE6-F14E-927C5C2790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731" t="10753" r="53804" b="5053"/>
            <a:stretch/>
          </p:blipFill>
          <p:spPr bwMode="auto">
            <a:xfrm>
              <a:off x="9280362" y="4705818"/>
              <a:ext cx="1944000" cy="19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1DC0355-A045-6EAC-7298-8C88DBE91327}"/>
                </a:ext>
              </a:extLst>
            </p:cNvPr>
            <p:cNvSpPr txBox="1"/>
            <p:nvPr/>
          </p:nvSpPr>
          <p:spPr>
            <a:xfrm>
              <a:off x="9467272" y="4428819"/>
              <a:ext cx="2456874" cy="328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Hyperparameter #1</a:t>
              </a:r>
              <a:endParaRPr lang="el-GR" sz="12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219F46E-FD7B-1C14-04CB-3ADDABC847CF}"/>
                </a:ext>
              </a:extLst>
            </p:cNvPr>
            <p:cNvSpPr txBox="1"/>
            <p:nvPr/>
          </p:nvSpPr>
          <p:spPr>
            <a:xfrm rot="16200000">
              <a:off x="8340493" y="5150776"/>
              <a:ext cx="1590046" cy="545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Hyperparameter #2</a:t>
              </a:r>
              <a:endParaRPr lang="el-GR" sz="12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89E6994-4D49-8852-119D-BD1C1395DD0A}"/>
              </a:ext>
            </a:extLst>
          </p:cNvPr>
          <p:cNvGrpSpPr/>
          <p:nvPr/>
        </p:nvGrpSpPr>
        <p:grpSpPr>
          <a:xfrm>
            <a:off x="6565179" y="4306272"/>
            <a:ext cx="2299103" cy="2398605"/>
            <a:chOff x="3196306" y="4303294"/>
            <a:chExt cx="2299103" cy="2398605"/>
          </a:xfrm>
        </p:grpSpPr>
        <p:sp>
          <p:nvSpPr>
            <p:cNvPr id="12" name="Text Placeholder 50">
              <a:extLst>
                <a:ext uri="{FF2B5EF4-FFF2-40B4-BE49-F238E27FC236}">
                  <a16:creationId xmlns:a16="http://schemas.microsoft.com/office/drawing/2014/main" id="{1ED18FB4-A986-D79D-C198-511F671B792D}"/>
                </a:ext>
              </a:extLst>
            </p:cNvPr>
            <p:cNvSpPr txBox="1">
              <a:spLocks/>
            </p:cNvSpPr>
            <p:nvPr/>
          </p:nvSpPr>
          <p:spPr>
            <a:xfrm>
              <a:off x="3196306" y="6008818"/>
              <a:ext cx="2299103" cy="6930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accent4"/>
                </a:buClr>
                <a:buSzPts val="3000"/>
                <a:buFont typeface="Source Sans Pro"/>
                <a:buNone/>
                <a:defRPr sz="2000" b="1" i="0" u="none" strike="noStrike" cap="all" baseline="0">
                  <a:solidFill>
                    <a:schemeClr val="accent5"/>
                  </a:solidFill>
                  <a:latin typeface="+mj-lt"/>
                  <a:ea typeface="Source Sans Pro"/>
                  <a:cs typeface="Source Sans Pro"/>
                  <a:sym typeface="Source Sans Pro"/>
                </a:defRPr>
              </a:lvl1pPr>
              <a:lvl2pPr marL="45720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2400"/>
                <a:buFont typeface="Source Sans Pro"/>
                <a:buNone/>
                <a:defRPr sz="1600" b="0" i="0" u="none" strike="noStrike" cap="none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defRPr>
              </a:lvl2pPr>
              <a:lvl3pPr marL="914400" marR="0" lvl="2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2400"/>
                <a:buFont typeface="Source Sans Pro"/>
                <a:buNone/>
                <a:defRPr sz="1600" b="0" i="0" u="none" strike="noStrike" cap="none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defRPr>
              </a:lvl3pPr>
              <a:lvl4pPr marL="1371600" marR="0" lvl="3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Source Sans Pro"/>
                <a:buNone/>
                <a:defRPr sz="1600" b="0" i="0" u="none" strike="noStrike" cap="none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defRPr>
              </a:lvl4pPr>
              <a:lvl5pPr marL="1828800" marR="0" lvl="4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Source Sans Pro"/>
                <a:buNone/>
                <a:defRPr sz="1600" b="0" i="0" u="none" strike="noStrike" cap="none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Source Sans Pro"/>
                <a:buChar char="■"/>
                <a:defRPr sz="1800" b="0" i="0" u="none" strike="noStrike" cap="none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Source Sans Pro"/>
                <a:buChar char="●"/>
                <a:defRPr sz="1800" b="0" i="0" u="none" strike="noStrike" cap="none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Source Sans Pro"/>
                <a:buChar char="○"/>
                <a:defRPr sz="1800" b="0" i="0" u="none" strike="noStrike" cap="none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Source Sans Pro"/>
                <a:buChar char="■"/>
                <a:defRPr sz="1800" b="0" i="0" u="none" strike="noStrike" cap="none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defRPr>
              </a:lvl9pPr>
            </a:lstStyle>
            <a:p>
              <a:pPr algn="ctr"/>
              <a:r>
                <a:rPr lang="el-GR" sz="1600" b="0" kern="0" cap="none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Μέθοδοι Συνόλου (</a:t>
              </a:r>
              <a:r>
                <a:rPr lang="en-US" sz="1600" b="0" kern="0" cap="none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Ensembles)</a:t>
              </a:r>
            </a:p>
          </p:txBody>
        </p:sp>
        <p:pic>
          <p:nvPicPr>
            <p:cNvPr id="24" name="Picture 23" descr="A diagram of a software company&#10;&#10;AI-generated content may be incorrect.">
              <a:extLst>
                <a:ext uri="{FF2B5EF4-FFF2-40B4-BE49-F238E27FC236}">
                  <a16:creationId xmlns:a16="http://schemas.microsoft.com/office/drawing/2014/main" id="{E4CB1A71-9212-CB0A-DACF-B798D0C2C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15303" y="4303294"/>
              <a:ext cx="1871210" cy="1697588"/>
            </a:xfrm>
            <a:prstGeom prst="rect">
              <a:avLst/>
            </a:prstGeom>
          </p:spPr>
        </p:pic>
      </p:grpSp>
      <p:pic>
        <p:nvPicPr>
          <p:cNvPr id="1030" name="Picture 6" descr="Feature Engineering A-Z | Yeo-Johnson – Feature Engineering A-Z">
            <a:extLst>
              <a:ext uri="{FF2B5EF4-FFF2-40B4-BE49-F238E27FC236}">
                <a16:creationId xmlns:a16="http://schemas.microsoft.com/office/drawing/2014/main" id="{9C8E156E-38D4-2123-F5E9-1C47FB640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302" y="1085758"/>
            <a:ext cx="1998831" cy="1994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Graphic 27" descr="Clipboard outline">
            <a:extLst>
              <a:ext uri="{FF2B5EF4-FFF2-40B4-BE49-F238E27FC236}">
                <a16:creationId xmlns:a16="http://schemas.microsoft.com/office/drawing/2014/main" id="{5FD43D16-5B1C-D2F0-AA0C-6C2518FCF1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864407" y="4234147"/>
            <a:ext cx="1804547" cy="1804547"/>
          </a:xfrm>
          <a:prstGeom prst="rect">
            <a:avLst/>
          </a:prstGeom>
        </p:spPr>
      </p:pic>
      <p:sp>
        <p:nvSpPr>
          <p:cNvPr id="31" name="Text Placeholder 51">
            <a:extLst>
              <a:ext uri="{FF2B5EF4-FFF2-40B4-BE49-F238E27FC236}">
                <a16:creationId xmlns:a16="http://schemas.microsoft.com/office/drawing/2014/main" id="{BE5FDD6B-F05F-A8A7-5849-ACA7BA1C1668}"/>
              </a:ext>
            </a:extLst>
          </p:cNvPr>
          <p:cNvSpPr txBox="1">
            <a:spLocks/>
          </p:cNvSpPr>
          <p:nvPr/>
        </p:nvSpPr>
        <p:spPr>
          <a:xfrm>
            <a:off x="9468793" y="6038694"/>
            <a:ext cx="2299102" cy="69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None/>
              <a:defRPr sz="2000" b="1" i="0" u="none" strike="noStrike" cap="all" baseline="0">
                <a:solidFill>
                  <a:schemeClr val="accent5"/>
                </a:solidFill>
                <a:latin typeface="+mj-lt"/>
                <a:ea typeface="Source Sans Pro"/>
                <a:cs typeface="Source Sans Pro"/>
                <a:sym typeface="Source Sans Pro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None/>
              <a:defRPr sz="16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None/>
              <a:defRPr sz="16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None/>
              <a:defRPr sz="16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None/>
              <a:defRPr sz="16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/>
            <a:r>
              <a:rPr lang="el-GR" sz="1600" b="0" kern="0" cap="none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Συμπεράσματα και παρατηρήσεις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C949B46-AB9C-4ECB-E5C4-8B1BD93EA2F4}"/>
              </a:ext>
            </a:extLst>
          </p:cNvPr>
          <p:cNvGrpSpPr/>
          <p:nvPr/>
        </p:nvGrpSpPr>
        <p:grpSpPr>
          <a:xfrm>
            <a:off x="3058902" y="4306272"/>
            <a:ext cx="2711629" cy="2398604"/>
            <a:chOff x="6311928" y="4333170"/>
            <a:chExt cx="2711629" cy="2398604"/>
          </a:xfrm>
        </p:grpSpPr>
        <p:sp>
          <p:nvSpPr>
            <p:cNvPr id="13" name="Text Placeholder 51">
              <a:extLst>
                <a:ext uri="{FF2B5EF4-FFF2-40B4-BE49-F238E27FC236}">
                  <a16:creationId xmlns:a16="http://schemas.microsoft.com/office/drawing/2014/main" id="{5BFF0A4E-04A9-2A77-F731-8AF406FD0D52}"/>
                </a:ext>
              </a:extLst>
            </p:cNvPr>
            <p:cNvSpPr txBox="1">
              <a:spLocks/>
            </p:cNvSpPr>
            <p:nvPr/>
          </p:nvSpPr>
          <p:spPr>
            <a:xfrm>
              <a:off x="6311928" y="6038693"/>
              <a:ext cx="2711629" cy="6930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accent4"/>
                </a:buClr>
                <a:buSzPts val="3000"/>
                <a:buFont typeface="Source Sans Pro"/>
                <a:buNone/>
                <a:defRPr sz="2000" b="1" i="0" u="none" strike="noStrike" cap="all" baseline="0">
                  <a:solidFill>
                    <a:schemeClr val="accent5"/>
                  </a:solidFill>
                  <a:latin typeface="+mj-lt"/>
                  <a:ea typeface="Source Sans Pro"/>
                  <a:cs typeface="Source Sans Pro"/>
                  <a:sym typeface="Source Sans Pro"/>
                </a:defRPr>
              </a:lvl1pPr>
              <a:lvl2pPr marL="45720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2400"/>
                <a:buFont typeface="Source Sans Pro"/>
                <a:buNone/>
                <a:defRPr sz="1600" b="0" i="0" u="none" strike="noStrike" cap="none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defRPr>
              </a:lvl2pPr>
              <a:lvl3pPr marL="914400" marR="0" lvl="2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2400"/>
                <a:buFont typeface="Source Sans Pro"/>
                <a:buNone/>
                <a:defRPr sz="1600" b="0" i="0" u="none" strike="noStrike" cap="none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defRPr>
              </a:lvl3pPr>
              <a:lvl4pPr marL="1371600" marR="0" lvl="3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Source Sans Pro"/>
                <a:buNone/>
                <a:defRPr sz="1600" b="0" i="0" u="none" strike="noStrike" cap="none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defRPr>
              </a:lvl4pPr>
              <a:lvl5pPr marL="1828800" marR="0" lvl="4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Source Sans Pro"/>
                <a:buNone/>
                <a:defRPr sz="1600" b="0" i="0" u="none" strike="noStrike" cap="none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Source Sans Pro"/>
                <a:buChar char="■"/>
                <a:defRPr sz="1800" b="0" i="0" u="none" strike="noStrike" cap="none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Source Sans Pro"/>
                <a:buChar char="●"/>
                <a:defRPr sz="1800" b="0" i="0" u="none" strike="noStrike" cap="none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Source Sans Pro"/>
                <a:buChar char="○"/>
                <a:defRPr sz="1800" b="0" i="0" u="none" strike="noStrike" cap="none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Source Sans Pro"/>
                <a:buChar char="■"/>
                <a:defRPr sz="1800" b="0" i="0" u="none" strike="noStrike" cap="none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defRPr>
              </a:lvl9pPr>
            </a:lstStyle>
            <a:p>
              <a:pPr algn="ctr"/>
              <a:r>
                <a:rPr lang="el-GR" sz="1600" b="0" kern="0" cap="none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Σημαντικά Χαρακτηριστικά </a:t>
              </a:r>
            </a:p>
            <a:p>
              <a:pPr algn="ctr"/>
              <a:r>
                <a:rPr lang="el-GR" sz="1600" b="0" kern="0" cap="none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(</a:t>
              </a:r>
              <a:r>
                <a:rPr lang="en-US" sz="1600" b="0" kern="0" cap="none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feature Importance)</a:t>
              </a:r>
              <a:endParaRPr lang="el-GR" sz="1600" b="0" kern="0" cap="none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pic>
          <p:nvPicPr>
            <p:cNvPr id="33" name="Picture 32" descr="A graph of numbers and letters&#10;&#10;AI-generated content may be incorrect.">
              <a:extLst>
                <a:ext uri="{FF2B5EF4-FFF2-40B4-BE49-F238E27FC236}">
                  <a16:creationId xmlns:a16="http://schemas.microsoft.com/office/drawing/2014/main" id="{2CFF6080-8972-48F5-DA8A-08B4E41B9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971368" y="4333170"/>
              <a:ext cx="1392750" cy="1705524"/>
            </a:xfrm>
            <a:prstGeom prst="rect">
              <a:avLst/>
            </a:prstGeom>
          </p:spPr>
        </p:pic>
      </p:grpSp>
      <p:sp>
        <p:nvSpPr>
          <p:cNvPr id="34" name="Title 1">
            <a:extLst>
              <a:ext uri="{FF2B5EF4-FFF2-40B4-BE49-F238E27FC236}">
                <a16:creationId xmlns:a16="http://schemas.microsoft.com/office/drawing/2014/main" id="{D7C65236-90B5-43E2-217D-AEF21B187236}"/>
              </a:ext>
            </a:extLst>
          </p:cNvPr>
          <p:cNvSpPr txBox="1">
            <a:spLocks/>
          </p:cNvSpPr>
          <p:nvPr/>
        </p:nvSpPr>
        <p:spPr>
          <a:xfrm>
            <a:off x="459666" y="27202"/>
            <a:ext cx="10095600" cy="9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3600" kern="0" dirty="0"/>
              <a:t>Step by Step</a:t>
            </a:r>
            <a:endParaRPr lang="el-GR" sz="3600" kern="0" dirty="0"/>
          </a:p>
        </p:txBody>
      </p:sp>
    </p:spTree>
    <p:extLst>
      <p:ext uri="{BB962C8B-B14F-4D97-AF65-F5344CB8AC3E}">
        <p14:creationId xmlns:p14="http://schemas.microsoft.com/office/powerpoint/2010/main" val="3787141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DC3883-08EF-B90C-C2FF-9B6A49BE7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1647F-6829-73FC-15B4-585FED866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3600" dirty="0"/>
              <a:t>Συλλογή Δεδομένων</a:t>
            </a:r>
            <a:r>
              <a:rPr lang="en-US" sz="3600" dirty="0"/>
              <a:t> -</a:t>
            </a:r>
            <a:r>
              <a:rPr lang="el-GR" sz="3600" dirty="0"/>
              <a:t> </a:t>
            </a:r>
            <a:r>
              <a:rPr lang="en-US" sz="3600" dirty="0"/>
              <a:t>Data Collection</a:t>
            </a:r>
            <a:endParaRPr lang="el-GR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47C0A8-7CB2-5CD9-5840-79BBB9214BF1}"/>
              </a:ext>
            </a:extLst>
          </p:cNvPr>
          <p:cNvSpPr txBox="1"/>
          <p:nvPr/>
        </p:nvSpPr>
        <p:spPr>
          <a:xfrm>
            <a:off x="1115128" y="1523319"/>
            <a:ext cx="397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Μορφή Δεδομένων</a:t>
            </a:r>
          </a:p>
        </p:txBody>
      </p:sp>
      <p:pic>
        <p:nvPicPr>
          <p:cNvPr id="6" name="Picture 5" descr="A red and black logo&#10;&#10;AI-generated content may be incorrect.">
            <a:extLst>
              <a:ext uri="{FF2B5EF4-FFF2-40B4-BE49-F238E27FC236}">
                <a16:creationId xmlns:a16="http://schemas.microsoft.com/office/drawing/2014/main" id="{81443F59-261A-75F2-4B5E-EC63071E34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319" y="4189334"/>
            <a:ext cx="1968717" cy="874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 descr="HoopsHype">
            <a:extLst>
              <a:ext uri="{FF2B5EF4-FFF2-40B4-BE49-F238E27FC236}">
                <a16:creationId xmlns:a16="http://schemas.microsoft.com/office/drawing/2014/main" id="{7827BF6C-3E26-F47C-2FCE-722E77FEE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0434" y="4435889"/>
            <a:ext cx="2583366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9D17D995-E536-ADA1-177F-CDCBF1271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382" y="4127134"/>
            <a:ext cx="1968717" cy="894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9274C3D-CF36-2E6B-82E1-DF8BFF476B2E}"/>
              </a:ext>
            </a:extLst>
          </p:cNvPr>
          <p:cNvSpPr txBox="1"/>
          <p:nvPr/>
        </p:nvSpPr>
        <p:spPr>
          <a:xfrm>
            <a:off x="3078700" y="4282181"/>
            <a:ext cx="2331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  <a:ea typeface="Roboto Slab" pitchFamily="2" charset="0"/>
                <a:cs typeface="Roboto Slab" pitchFamily="2" charset="0"/>
              </a:rPr>
              <a:t>NBA-API</a:t>
            </a:r>
            <a:endParaRPr lang="el-GR" sz="3200" b="1" dirty="0">
              <a:latin typeface="+mj-lt"/>
              <a:ea typeface="Roboto Slab" pitchFamily="2" charset="0"/>
              <a:cs typeface="Roboto Slab" pitchFamily="2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714B8CF-B49B-F018-6AA4-A6042172D9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45237"/>
              </p:ext>
            </p:extLst>
          </p:nvPr>
        </p:nvGraphicFramePr>
        <p:xfrm>
          <a:off x="1638299" y="2155324"/>
          <a:ext cx="7823200" cy="381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2471">
                  <a:extLst>
                    <a:ext uri="{9D8B030D-6E8A-4147-A177-3AD203B41FA5}">
                      <a16:colId xmlns:a16="http://schemas.microsoft.com/office/drawing/2014/main" val="2469819486"/>
                    </a:ext>
                  </a:extLst>
                </a:gridCol>
                <a:gridCol w="1742489">
                  <a:extLst>
                    <a:ext uri="{9D8B030D-6E8A-4147-A177-3AD203B41FA5}">
                      <a16:colId xmlns:a16="http://schemas.microsoft.com/office/drawing/2014/main" val="3193790788"/>
                    </a:ext>
                  </a:extLst>
                </a:gridCol>
                <a:gridCol w="1638640">
                  <a:extLst>
                    <a:ext uri="{9D8B030D-6E8A-4147-A177-3AD203B41FA5}">
                      <a16:colId xmlns:a16="http://schemas.microsoft.com/office/drawing/2014/main" val="1182208958"/>
                    </a:ext>
                  </a:extLst>
                </a:gridCol>
                <a:gridCol w="1660618">
                  <a:extLst>
                    <a:ext uri="{9D8B030D-6E8A-4147-A177-3AD203B41FA5}">
                      <a16:colId xmlns:a16="http://schemas.microsoft.com/office/drawing/2014/main" val="3663727475"/>
                    </a:ext>
                  </a:extLst>
                </a:gridCol>
                <a:gridCol w="1398982">
                  <a:extLst>
                    <a:ext uri="{9D8B030D-6E8A-4147-A177-3AD203B41FA5}">
                      <a16:colId xmlns:a16="http://schemas.microsoft.com/office/drawing/2014/main" val="82211968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Name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Basic Stats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Advanced Stats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Personal Information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Salary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344068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Player Name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Points, Rebounds etc.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OFF rating, PACE etc.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Country, School etc.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Salary Information ($)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5018818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607BAAA-C284-B264-A075-EE23C0E8B91A}"/>
              </a:ext>
            </a:extLst>
          </p:cNvPr>
          <p:cNvSpPr txBox="1"/>
          <p:nvPr/>
        </p:nvSpPr>
        <p:spPr>
          <a:xfrm>
            <a:off x="1115128" y="3023373"/>
            <a:ext cx="397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Πηγές δεδομένων</a:t>
            </a:r>
            <a:r>
              <a:rPr lang="en-US" sz="24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endParaRPr lang="el-GR" sz="24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683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8160D-4AA1-242C-0E28-F5F4E7082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3600" dirty="0"/>
              <a:t>Συλλογή Δεδομένων</a:t>
            </a:r>
            <a:r>
              <a:rPr lang="en-US" sz="3600" dirty="0"/>
              <a:t> -</a:t>
            </a:r>
            <a:r>
              <a:rPr lang="el-GR" sz="3600" dirty="0"/>
              <a:t> </a:t>
            </a:r>
            <a:r>
              <a:rPr lang="en-US" sz="3600" dirty="0"/>
              <a:t>Data Collection</a:t>
            </a:r>
            <a:endParaRPr lang="el-GR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9E5ADA-3B29-A336-60A6-E1D81BA43C1A}"/>
              </a:ext>
            </a:extLst>
          </p:cNvPr>
          <p:cNvSpPr txBox="1"/>
          <p:nvPr/>
        </p:nvSpPr>
        <p:spPr>
          <a:xfrm>
            <a:off x="1115128" y="1523319"/>
            <a:ext cx="39712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Πηγές δεδομένων</a:t>
            </a:r>
            <a:r>
              <a:rPr lang="en-US" sz="24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el-GR" sz="24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που επιλέχθηκαν</a:t>
            </a:r>
          </a:p>
          <a:p>
            <a:endParaRPr lang="el-GR" sz="24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pic>
        <p:nvPicPr>
          <p:cNvPr id="6" name="Picture 5" descr="A red and black logo&#10;&#10;AI-generated content may be incorrect.">
            <a:extLst>
              <a:ext uri="{FF2B5EF4-FFF2-40B4-BE49-F238E27FC236}">
                <a16:creationId xmlns:a16="http://schemas.microsoft.com/office/drawing/2014/main" id="{F5D49DE2-3A14-6826-B09D-D82328BC7A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391" y="3249892"/>
            <a:ext cx="1968717" cy="874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80AD774-8855-DB1E-0AEF-F27DAD5E1D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328" y="2940005"/>
            <a:ext cx="1402925" cy="17150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421FF0-29BF-4859-439A-0B5A3FE527EB}"/>
              </a:ext>
            </a:extLst>
          </p:cNvPr>
          <p:cNvSpPr txBox="1"/>
          <p:nvPr/>
        </p:nvSpPr>
        <p:spPr>
          <a:xfrm>
            <a:off x="7396031" y="2669929"/>
            <a:ext cx="240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Δεδομένα μισθών</a:t>
            </a:r>
          </a:p>
        </p:txBody>
      </p:sp>
      <p:pic>
        <p:nvPicPr>
          <p:cNvPr id="1028" name="Picture 4" descr="HoopsHype">
            <a:extLst>
              <a:ext uri="{FF2B5EF4-FFF2-40B4-BE49-F238E27FC236}">
                <a16:creationId xmlns:a16="http://schemas.microsoft.com/office/drawing/2014/main" id="{95405BDD-7268-5374-1827-31C844D0D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3506" y="3496447"/>
            <a:ext cx="2583366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3B7303-A69C-A64A-6DB7-85D40CEF9175}"/>
              </a:ext>
            </a:extLst>
          </p:cNvPr>
          <p:cNvSpPr txBox="1"/>
          <p:nvPr/>
        </p:nvSpPr>
        <p:spPr>
          <a:xfrm>
            <a:off x="1811622" y="2640735"/>
            <a:ext cx="240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Στατιστικά παικτών</a:t>
            </a: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502E07D3-A88B-1623-EE57-4E4F45278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54" y="3187692"/>
            <a:ext cx="1968717" cy="894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5613BE7-6BE8-1B41-0A1F-792964E74EE6}"/>
              </a:ext>
            </a:extLst>
          </p:cNvPr>
          <p:cNvSpPr txBox="1"/>
          <p:nvPr/>
        </p:nvSpPr>
        <p:spPr>
          <a:xfrm>
            <a:off x="3011772" y="3342739"/>
            <a:ext cx="2331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  <a:ea typeface="Roboto Slab" pitchFamily="2" charset="0"/>
                <a:cs typeface="Roboto Slab" pitchFamily="2" charset="0"/>
              </a:rPr>
              <a:t>NBA-API</a:t>
            </a:r>
            <a:endParaRPr lang="el-GR" sz="3200" b="1" dirty="0">
              <a:latin typeface="+mj-lt"/>
              <a:ea typeface="Roboto Slab" pitchFamily="2" charset="0"/>
              <a:cs typeface="Roboto Slab" pitchFamily="2" charset="0"/>
            </a:endParaRPr>
          </a:p>
        </p:txBody>
      </p:sp>
      <p:pic>
        <p:nvPicPr>
          <p:cNvPr id="14" name="Picture 1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29F67EB-5DA3-059F-F3E4-0457892C6C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19" y="2854595"/>
            <a:ext cx="1402925" cy="1715076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5419100-EB40-7E71-E8AC-F6FE81BA78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669786"/>
              </p:ext>
            </p:extLst>
          </p:nvPr>
        </p:nvGraphicFramePr>
        <p:xfrm>
          <a:off x="188313" y="4667931"/>
          <a:ext cx="7823200" cy="1333500"/>
        </p:xfrm>
        <a:graphic>
          <a:graphicData uri="http://schemas.openxmlformats.org/drawingml/2006/table">
            <a:tbl>
              <a:tblPr/>
              <a:tblGrid>
                <a:gridCol w="520278">
                  <a:extLst>
                    <a:ext uri="{9D8B030D-6E8A-4147-A177-3AD203B41FA5}">
                      <a16:colId xmlns:a16="http://schemas.microsoft.com/office/drawing/2014/main" val="1170782685"/>
                    </a:ext>
                  </a:extLst>
                </a:gridCol>
                <a:gridCol w="1611592">
                  <a:extLst>
                    <a:ext uri="{9D8B030D-6E8A-4147-A177-3AD203B41FA5}">
                      <a16:colId xmlns:a16="http://schemas.microsoft.com/office/drawing/2014/main" val="2645101073"/>
                    </a:ext>
                  </a:extLst>
                </a:gridCol>
                <a:gridCol w="659864">
                  <a:extLst>
                    <a:ext uri="{9D8B030D-6E8A-4147-A177-3AD203B41FA5}">
                      <a16:colId xmlns:a16="http://schemas.microsoft.com/office/drawing/2014/main" val="2290245710"/>
                    </a:ext>
                  </a:extLst>
                </a:gridCol>
                <a:gridCol w="1497385">
                  <a:extLst>
                    <a:ext uri="{9D8B030D-6E8A-4147-A177-3AD203B41FA5}">
                      <a16:colId xmlns:a16="http://schemas.microsoft.com/office/drawing/2014/main" val="2580042775"/>
                    </a:ext>
                  </a:extLst>
                </a:gridCol>
                <a:gridCol w="469519">
                  <a:extLst>
                    <a:ext uri="{9D8B030D-6E8A-4147-A177-3AD203B41FA5}">
                      <a16:colId xmlns:a16="http://schemas.microsoft.com/office/drawing/2014/main" val="3720933956"/>
                    </a:ext>
                  </a:extLst>
                </a:gridCol>
                <a:gridCol w="393381">
                  <a:extLst>
                    <a:ext uri="{9D8B030D-6E8A-4147-A177-3AD203B41FA5}">
                      <a16:colId xmlns:a16="http://schemas.microsoft.com/office/drawing/2014/main" val="277352960"/>
                    </a:ext>
                  </a:extLst>
                </a:gridCol>
                <a:gridCol w="342622">
                  <a:extLst>
                    <a:ext uri="{9D8B030D-6E8A-4147-A177-3AD203B41FA5}">
                      <a16:colId xmlns:a16="http://schemas.microsoft.com/office/drawing/2014/main" val="3883457561"/>
                    </a:ext>
                  </a:extLst>
                </a:gridCol>
                <a:gridCol w="291863">
                  <a:extLst>
                    <a:ext uri="{9D8B030D-6E8A-4147-A177-3AD203B41FA5}">
                      <a16:colId xmlns:a16="http://schemas.microsoft.com/office/drawing/2014/main" val="737843007"/>
                    </a:ext>
                  </a:extLst>
                </a:gridCol>
                <a:gridCol w="637657">
                  <a:extLst>
                    <a:ext uri="{9D8B030D-6E8A-4147-A177-3AD203B41FA5}">
                      <a16:colId xmlns:a16="http://schemas.microsoft.com/office/drawing/2014/main" val="481953589"/>
                    </a:ext>
                  </a:extLst>
                </a:gridCol>
                <a:gridCol w="456829">
                  <a:extLst>
                    <a:ext uri="{9D8B030D-6E8A-4147-A177-3AD203B41FA5}">
                      <a16:colId xmlns:a16="http://schemas.microsoft.com/office/drawing/2014/main" val="2795587427"/>
                    </a:ext>
                  </a:extLst>
                </a:gridCol>
                <a:gridCol w="485381">
                  <a:extLst>
                    <a:ext uri="{9D8B030D-6E8A-4147-A177-3AD203B41FA5}">
                      <a16:colId xmlns:a16="http://schemas.microsoft.com/office/drawing/2014/main" val="1393122455"/>
                    </a:ext>
                  </a:extLst>
                </a:gridCol>
                <a:gridCol w="456829">
                  <a:extLst>
                    <a:ext uri="{9D8B030D-6E8A-4147-A177-3AD203B41FA5}">
                      <a16:colId xmlns:a16="http://schemas.microsoft.com/office/drawing/2014/main" val="110736287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Rank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Player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Season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TEAM_ABBREVIATION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GP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W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W_PCT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MIN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FGM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0887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kevin garnett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39,5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18,2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3757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shaquille oneal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0,689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39,5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19,2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2431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alonzo mourning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0,615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23,5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5,6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10,8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5134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juwan howard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0,395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36,7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55045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hakeem olajuwon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0,552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26,6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9,8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5194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karl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malone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0,642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35,7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16,6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182013"/>
                  </a:ext>
                </a:extLst>
              </a:tr>
            </a:tbl>
          </a:graphicData>
        </a:graphic>
      </p:graphicFrame>
      <p:pic>
        <p:nvPicPr>
          <p:cNvPr id="27" name="Picture 26">
            <a:extLst>
              <a:ext uri="{FF2B5EF4-FFF2-40B4-BE49-F238E27FC236}">
                <a16:creationId xmlns:a16="http://schemas.microsoft.com/office/drawing/2014/main" id="{FCBF45F3-7513-47C4-3429-44C2339C18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6781" y="4667931"/>
            <a:ext cx="2488574" cy="13335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AEBF4CCE-BE43-C9B5-5FC1-4B4AB24B6122}"/>
              </a:ext>
            </a:extLst>
          </p:cNvPr>
          <p:cNvSpPr/>
          <p:nvPr/>
        </p:nvSpPr>
        <p:spPr>
          <a:xfrm>
            <a:off x="8333348" y="2916484"/>
            <a:ext cx="3076198" cy="154092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FED013-B487-F47C-4836-F6E405A26CA5}"/>
              </a:ext>
            </a:extLst>
          </p:cNvPr>
          <p:cNvSpPr/>
          <p:nvPr/>
        </p:nvSpPr>
        <p:spPr>
          <a:xfrm>
            <a:off x="2955267" y="3012645"/>
            <a:ext cx="2055358" cy="124496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8646B3-4E69-ED0B-47BE-875E2B20C989}"/>
              </a:ext>
            </a:extLst>
          </p:cNvPr>
          <p:cNvSpPr txBox="1"/>
          <p:nvPr/>
        </p:nvSpPr>
        <p:spPr>
          <a:xfrm>
            <a:off x="1044994" y="4256437"/>
            <a:ext cx="13789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Παράδειγμα</a:t>
            </a:r>
          </a:p>
          <a:p>
            <a:endParaRPr lang="el-G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B7ABDA-0D08-A573-E53A-D88F782A4A43}"/>
              </a:ext>
            </a:extLst>
          </p:cNvPr>
          <p:cNvSpPr txBox="1"/>
          <p:nvPr/>
        </p:nvSpPr>
        <p:spPr>
          <a:xfrm>
            <a:off x="782454" y="6211669"/>
            <a:ext cx="11267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highlight>
                  <a:srgbClr val="FFFF00"/>
                </a:highlight>
              </a:rPr>
              <a:t>Ο πίνακας δεδομένων περιέχει το </a:t>
            </a:r>
            <a:r>
              <a:rPr lang="el-GR" b="1" dirty="0">
                <a:highlight>
                  <a:srgbClr val="FFFF00"/>
                </a:highlight>
              </a:rPr>
              <a:t>όνομα</a:t>
            </a:r>
            <a:r>
              <a:rPr lang="el-GR" dirty="0">
                <a:highlight>
                  <a:srgbClr val="FFFF00"/>
                </a:highlight>
              </a:rPr>
              <a:t> του παίκτη, </a:t>
            </a:r>
            <a:r>
              <a:rPr lang="el-GR" b="1" dirty="0">
                <a:highlight>
                  <a:srgbClr val="FFFF00"/>
                </a:highlight>
              </a:rPr>
              <a:t>49 χαρακτηριστικά </a:t>
            </a:r>
            <a:r>
              <a:rPr lang="el-GR" dirty="0">
                <a:highlight>
                  <a:srgbClr val="FFFF00"/>
                </a:highlight>
              </a:rPr>
              <a:t>και τον </a:t>
            </a:r>
            <a:r>
              <a:rPr lang="el-GR" b="1" dirty="0">
                <a:highlight>
                  <a:srgbClr val="FFFF00"/>
                </a:highlight>
              </a:rPr>
              <a:t>μισθό</a:t>
            </a:r>
            <a:r>
              <a:rPr lang="el-GR" dirty="0">
                <a:highlight>
                  <a:srgbClr val="FFFF00"/>
                </a:highlight>
              </a:rPr>
              <a:t> του για το διάστημα 2000-01 έως 2022-23.</a:t>
            </a:r>
          </a:p>
        </p:txBody>
      </p:sp>
    </p:spTree>
    <p:extLst>
      <p:ext uri="{BB962C8B-B14F-4D97-AF65-F5344CB8AC3E}">
        <p14:creationId xmlns:p14="http://schemas.microsoft.com/office/powerpoint/2010/main" val="3611355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FC7BDD-50C0-0969-27F8-78F2F1DCE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8D7E3-619F-783D-AEEC-9487D20B6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3600" dirty="0"/>
              <a:t>Συλλογή Δεδομένων</a:t>
            </a:r>
            <a:r>
              <a:rPr lang="en-US" sz="3600" dirty="0"/>
              <a:t> -</a:t>
            </a:r>
            <a:r>
              <a:rPr lang="el-GR" sz="3600" dirty="0"/>
              <a:t> </a:t>
            </a:r>
            <a:r>
              <a:rPr lang="en-US" sz="3600" dirty="0"/>
              <a:t>Data Collection</a:t>
            </a:r>
            <a:endParaRPr lang="el-GR" sz="3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664B81-10FE-0D5D-8DD7-F9532F350183}"/>
              </a:ext>
            </a:extLst>
          </p:cNvPr>
          <p:cNvSpPr txBox="1"/>
          <p:nvPr/>
        </p:nvSpPr>
        <p:spPr>
          <a:xfrm>
            <a:off x="782454" y="6211669"/>
            <a:ext cx="11267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highlight>
                  <a:srgbClr val="FFFF00"/>
                </a:highlight>
              </a:rPr>
              <a:t>Ο πίνακας δεδομένων περιέχει το </a:t>
            </a:r>
            <a:r>
              <a:rPr lang="el-GR" b="1" dirty="0">
                <a:highlight>
                  <a:srgbClr val="FFFF00"/>
                </a:highlight>
              </a:rPr>
              <a:t>όνομα</a:t>
            </a:r>
            <a:r>
              <a:rPr lang="el-GR" dirty="0">
                <a:highlight>
                  <a:srgbClr val="FFFF00"/>
                </a:highlight>
              </a:rPr>
              <a:t> του παίκτη, </a:t>
            </a:r>
            <a:r>
              <a:rPr lang="el-GR" b="1" dirty="0">
                <a:highlight>
                  <a:srgbClr val="FFFF00"/>
                </a:highlight>
              </a:rPr>
              <a:t>49 χαρακτηριστικά </a:t>
            </a:r>
            <a:r>
              <a:rPr lang="el-GR" dirty="0">
                <a:highlight>
                  <a:srgbClr val="FFFF00"/>
                </a:highlight>
              </a:rPr>
              <a:t>και τον </a:t>
            </a:r>
            <a:r>
              <a:rPr lang="el-GR" b="1" dirty="0">
                <a:highlight>
                  <a:srgbClr val="FFFF00"/>
                </a:highlight>
              </a:rPr>
              <a:t>μισθό</a:t>
            </a:r>
            <a:r>
              <a:rPr lang="el-GR" dirty="0">
                <a:highlight>
                  <a:srgbClr val="FFFF00"/>
                </a:highlight>
              </a:rPr>
              <a:t> του για το διάστημα 2000-01 έως 2022-23.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4FB0422-2491-500A-2362-CDE34794C6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360176"/>
              </p:ext>
            </p:extLst>
          </p:nvPr>
        </p:nvGraphicFramePr>
        <p:xfrm>
          <a:off x="1159358" y="1347627"/>
          <a:ext cx="3512229" cy="48287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579">
                  <a:extLst>
                    <a:ext uri="{9D8B030D-6E8A-4147-A177-3AD203B41FA5}">
                      <a16:colId xmlns:a16="http://schemas.microsoft.com/office/drawing/2014/main" val="1229888402"/>
                    </a:ext>
                  </a:extLst>
                </a:gridCol>
                <a:gridCol w="1081859">
                  <a:extLst>
                    <a:ext uri="{9D8B030D-6E8A-4147-A177-3AD203B41FA5}">
                      <a16:colId xmlns:a16="http://schemas.microsoft.com/office/drawing/2014/main" val="155000509"/>
                    </a:ext>
                  </a:extLst>
                </a:gridCol>
                <a:gridCol w="2179791">
                  <a:extLst>
                    <a:ext uri="{9D8B030D-6E8A-4147-A177-3AD203B41FA5}">
                      <a16:colId xmlns:a16="http://schemas.microsoft.com/office/drawing/2014/main" val="2632235843"/>
                    </a:ext>
                  </a:extLst>
                </a:gridCol>
              </a:tblGrid>
              <a:tr h="17772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 dirty="0">
                          <a:effectLst/>
                        </a:rPr>
                        <a:t>ID</a:t>
                      </a:r>
                      <a:endParaRPr lang="el-G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Όνομα Μεταβλητής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 dirty="0">
                          <a:effectLst/>
                        </a:rPr>
                        <a:t>Σύντομη περιγραφή</a:t>
                      </a:r>
                      <a:endParaRPr lang="el-G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extLst>
                  <a:ext uri="{0D108BD9-81ED-4DB2-BD59-A6C34878D82A}">
                    <a16:rowId xmlns:a16="http://schemas.microsoft.com/office/drawing/2014/main" val="2490350943"/>
                  </a:ext>
                </a:extLst>
              </a:tr>
              <a:tr h="14962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 dirty="0">
                          <a:effectLst/>
                        </a:rPr>
                        <a:t>0</a:t>
                      </a:r>
                      <a:endParaRPr lang="el-G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Player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Όνομα του παίκτη του NBA.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extLst>
                  <a:ext uri="{0D108BD9-81ED-4DB2-BD59-A6C34878D82A}">
                    <a16:rowId xmlns:a16="http://schemas.microsoft.com/office/drawing/2014/main" val="689808940"/>
                  </a:ext>
                </a:extLst>
              </a:tr>
              <a:tr h="31728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1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salary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Ο μισθός του παίκτη για τη δεδομένη σεζόν (σε δολάρια).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extLst>
                  <a:ext uri="{0D108BD9-81ED-4DB2-BD59-A6C34878D82A}">
                    <a16:rowId xmlns:a16="http://schemas.microsoft.com/office/drawing/2014/main" val="3412701534"/>
                  </a:ext>
                </a:extLst>
              </a:tr>
              <a:tr h="31728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2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season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Η σεζόν του NBA στη μορφή "YYYY-YY" (π.χ., 2023-24).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extLst>
                  <a:ext uri="{0D108BD9-81ED-4DB2-BD59-A6C34878D82A}">
                    <a16:rowId xmlns:a16="http://schemas.microsoft.com/office/drawing/2014/main" val="569883304"/>
                  </a:ext>
                </a:extLst>
              </a:tr>
              <a:tr h="31728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3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TEAM_ABBREVIATION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Συντομογραφία της ομάδας του παίκτη (π.χ., LAL για Los Angeles Lakers).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extLst>
                  <a:ext uri="{0D108BD9-81ED-4DB2-BD59-A6C34878D82A}">
                    <a16:rowId xmlns:a16="http://schemas.microsoft.com/office/drawing/2014/main" val="2445082998"/>
                  </a:ext>
                </a:extLst>
              </a:tr>
              <a:tr h="14962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4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AGE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Η ηλικία του παίκτη 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extLst>
                  <a:ext uri="{0D108BD9-81ED-4DB2-BD59-A6C34878D82A}">
                    <a16:rowId xmlns:a16="http://schemas.microsoft.com/office/drawing/2014/main" val="279243476"/>
                  </a:ext>
                </a:extLst>
              </a:tr>
              <a:tr h="31728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5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GP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Αγώνες στους οποίους συμμετείχε ο παίκτης κατά τη σεζόν.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extLst>
                  <a:ext uri="{0D108BD9-81ED-4DB2-BD59-A6C34878D82A}">
                    <a16:rowId xmlns:a16="http://schemas.microsoft.com/office/drawing/2014/main" val="1421454916"/>
                  </a:ext>
                </a:extLst>
              </a:tr>
              <a:tr h="31728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6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W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Συνολικοί αγώνες που κέρδισε η ομάδα του παίκτη στους οποίους συμμετείχε.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extLst>
                  <a:ext uri="{0D108BD9-81ED-4DB2-BD59-A6C34878D82A}">
                    <a16:rowId xmlns:a16="http://schemas.microsoft.com/office/drawing/2014/main" val="3970710133"/>
                  </a:ext>
                </a:extLst>
              </a:tr>
              <a:tr h="31728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7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L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Συνολικοί αγώνες που έχασε η ομάδα του παίκτη στους οποίους συμμετείχε.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extLst>
                  <a:ext uri="{0D108BD9-81ED-4DB2-BD59-A6C34878D82A}">
                    <a16:rowId xmlns:a16="http://schemas.microsoft.com/office/drawing/2014/main" val="1286210512"/>
                  </a:ext>
                </a:extLst>
              </a:tr>
              <a:tr h="31728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8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W_PCT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Ποσοστό νικών στους αγώνες που συμμετείχε ο παίκτης.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extLst>
                  <a:ext uri="{0D108BD9-81ED-4DB2-BD59-A6C34878D82A}">
                    <a16:rowId xmlns:a16="http://schemas.microsoft.com/office/drawing/2014/main" val="2708490339"/>
                  </a:ext>
                </a:extLst>
              </a:tr>
              <a:tr h="14962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9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MIN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Μέσος όρος λεπτών συμμετοχής ανά αγώνα.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extLst>
                  <a:ext uri="{0D108BD9-81ED-4DB2-BD59-A6C34878D82A}">
                    <a16:rowId xmlns:a16="http://schemas.microsoft.com/office/drawing/2014/main" val="574995099"/>
                  </a:ext>
                </a:extLst>
              </a:tr>
              <a:tr h="14962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10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FGM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Εύστοχα σουτ ανά αγώνα.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extLst>
                  <a:ext uri="{0D108BD9-81ED-4DB2-BD59-A6C34878D82A}">
                    <a16:rowId xmlns:a16="http://schemas.microsoft.com/office/drawing/2014/main" val="2028445436"/>
                  </a:ext>
                </a:extLst>
              </a:tr>
              <a:tr h="14962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11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FGA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Προσπάθειες για σουτ ανά αγώνα.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extLst>
                  <a:ext uri="{0D108BD9-81ED-4DB2-BD59-A6C34878D82A}">
                    <a16:rowId xmlns:a16="http://schemas.microsoft.com/office/drawing/2014/main" val="4174324033"/>
                  </a:ext>
                </a:extLst>
              </a:tr>
              <a:tr h="14962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12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FG_PCT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Ποσοστό ευστοχίας σουτ (FGM/FGA).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extLst>
                  <a:ext uri="{0D108BD9-81ED-4DB2-BD59-A6C34878D82A}">
                    <a16:rowId xmlns:a16="http://schemas.microsoft.com/office/drawing/2014/main" val="1364861462"/>
                  </a:ext>
                </a:extLst>
              </a:tr>
              <a:tr h="14962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13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FG3M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Εύστοχα τρίποντα ανά αγώνα.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extLst>
                  <a:ext uri="{0D108BD9-81ED-4DB2-BD59-A6C34878D82A}">
                    <a16:rowId xmlns:a16="http://schemas.microsoft.com/office/drawing/2014/main" val="3423559490"/>
                  </a:ext>
                </a:extLst>
              </a:tr>
              <a:tr h="14962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14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FG3A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Προσπάθειες για τρίποντα ανά αγώνα.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extLst>
                  <a:ext uri="{0D108BD9-81ED-4DB2-BD59-A6C34878D82A}">
                    <a16:rowId xmlns:a16="http://schemas.microsoft.com/office/drawing/2014/main" val="1482318573"/>
                  </a:ext>
                </a:extLst>
              </a:tr>
              <a:tr h="31728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15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FG3_PCT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Ποσοστό ευστοχίας στα τρίποντα (FG3M/FG3A).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extLst>
                  <a:ext uri="{0D108BD9-81ED-4DB2-BD59-A6C34878D82A}">
                    <a16:rowId xmlns:a16="http://schemas.microsoft.com/office/drawing/2014/main" val="2041070824"/>
                  </a:ext>
                </a:extLst>
              </a:tr>
              <a:tr h="14962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16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FTM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Εύστοχες ελεύθερες βολές ανά αγώνα.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extLst>
                  <a:ext uri="{0D108BD9-81ED-4DB2-BD59-A6C34878D82A}">
                    <a16:rowId xmlns:a16="http://schemas.microsoft.com/office/drawing/2014/main" val="1126816736"/>
                  </a:ext>
                </a:extLst>
              </a:tr>
              <a:tr h="14962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17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FTA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Προσπάθειες για ελεύθερες βολές ανά αγώνα.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extLst>
                  <a:ext uri="{0D108BD9-81ED-4DB2-BD59-A6C34878D82A}">
                    <a16:rowId xmlns:a16="http://schemas.microsoft.com/office/drawing/2014/main" val="2696281596"/>
                  </a:ext>
                </a:extLst>
              </a:tr>
              <a:tr h="31728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18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FT_PCT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Ποσοστό ευστοχίας στις ελεύθερες βολές (FTM/FTA).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extLst>
                  <a:ext uri="{0D108BD9-81ED-4DB2-BD59-A6C34878D82A}">
                    <a16:rowId xmlns:a16="http://schemas.microsoft.com/office/drawing/2014/main" val="1536960368"/>
                  </a:ext>
                </a:extLst>
              </a:tr>
              <a:tr h="14962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19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OREB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Μέσος όρος επιθετικών ριμπάουντ ανά αγώνα.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extLst>
                  <a:ext uri="{0D108BD9-81ED-4DB2-BD59-A6C34878D82A}">
                    <a16:rowId xmlns:a16="http://schemas.microsoft.com/office/drawing/2014/main" val="4248748936"/>
                  </a:ext>
                </a:extLst>
              </a:tr>
              <a:tr h="14962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20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DREB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 dirty="0">
                          <a:effectLst/>
                        </a:rPr>
                        <a:t>Μέσος όρος αμυντικών ριμπάουντ ανά αγώνα.</a:t>
                      </a:r>
                      <a:endParaRPr lang="el-G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98" marR="41598" marT="0" marB="0"/>
                </a:tc>
                <a:extLst>
                  <a:ext uri="{0D108BD9-81ED-4DB2-BD59-A6C34878D82A}">
                    <a16:rowId xmlns:a16="http://schemas.microsoft.com/office/drawing/2014/main" val="1247662239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34A1893-43B6-B0A5-8D46-71B409FF77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62545"/>
              </p:ext>
            </p:extLst>
          </p:nvPr>
        </p:nvGraphicFramePr>
        <p:xfrm>
          <a:off x="4761303" y="1347627"/>
          <a:ext cx="3816163" cy="48287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2263">
                  <a:extLst>
                    <a:ext uri="{9D8B030D-6E8A-4147-A177-3AD203B41FA5}">
                      <a16:colId xmlns:a16="http://schemas.microsoft.com/office/drawing/2014/main" val="4007827732"/>
                    </a:ext>
                  </a:extLst>
                </a:gridCol>
                <a:gridCol w="1175479">
                  <a:extLst>
                    <a:ext uri="{9D8B030D-6E8A-4147-A177-3AD203B41FA5}">
                      <a16:colId xmlns:a16="http://schemas.microsoft.com/office/drawing/2014/main" val="2410408340"/>
                    </a:ext>
                  </a:extLst>
                </a:gridCol>
                <a:gridCol w="2368421">
                  <a:extLst>
                    <a:ext uri="{9D8B030D-6E8A-4147-A177-3AD203B41FA5}">
                      <a16:colId xmlns:a16="http://schemas.microsoft.com/office/drawing/2014/main" val="3100934310"/>
                    </a:ext>
                  </a:extLst>
                </a:gridCol>
              </a:tblGrid>
              <a:tr h="18399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ID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 dirty="0">
                          <a:effectLst/>
                        </a:rPr>
                        <a:t>Όνομα Μεταβλητής</a:t>
                      </a:r>
                      <a:endParaRPr lang="el-GR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Σύντομη περιγραφή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extLst>
                  <a:ext uri="{0D108BD9-81ED-4DB2-BD59-A6C34878D82A}">
                    <a16:rowId xmlns:a16="http://schemas.microsoft.com/office/drawing/2014/main" val="952151377"/>
                  </a:ext>
                </a:extLst>
              </a:tr>
              <a:tr h="28125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21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REB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Σύνολο ριμπάουντ ανά αγώνα (OREB + DREB).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extLst>
                  <a:ext uri="{0D108BD9-81ED-4DB2-BD59-A6C34878D82A}">
                    <a16:rowId xmlns:a16="http://schemas.microsoft.com/office/drawing/2014/main" val="186845337"/>
                  </a:ext>
                </a:extLst>
              </a:tr>
              <a:tr h="14171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22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AST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Ασίστ ανά αγώνα.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extLst>
                  <a:ext uri="{0D108BD9-81ED-4DB2-BD59-A6C34878D82A}">
                    <a16:rowId xmlns:a16="http://schemas.microsoft.com/office/drawing/2014/main" val="1852776296"/>
                  </a:ext>
                </a:extLst>
              </a:tr>
              <a:tr h="14171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23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TOV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Λάθη ανά αγώνα.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extLst>
                  <a:ext uri="{0D108BD9-81ED-4DB2-BD59-A6C34878D82A}">
                    <a16:rowId xmlns:a16="http://schemas.microsoft.com/office/drawing/2014/main" val="3453633616"/>
                  </a:ext>
                </a:extLst>
              </a:tr>
              <a:tr h="14171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24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STL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Κλεψίματα ανά αγώνα.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extLst>
                  <a:ext uri="{0D108BD9-81ED-4DB2-BD59-A6C34878D82A}">
                    <a16:rowId xmlns:a16="http://schemas.microsoft.com/office/drawing/2014/main" val="775611769"/>
                  </a:ext>
                </a:extLst>
              </a:tr>
              <a:tr h="14171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25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BLK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Κοψίματα ανά αγώνα.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extLst>
                  <a:ext uri="{0D108BD9-81ED-4DB2-BD59-A6C34878D82A}">
                    <a16:rowId xmlns:a16="http://schemas.microsoft.com/office/drawing/2014/main" val="2801619675"/>
                  </a:ext>
                </a:extLst>
              </a:tr>
              <a:tr h="29041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26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BLKA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Αποτυχημένες προσπάθειες λόγω κοψίματος ανά αγώνα.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extLst>
                  <a:ext uri="{0D108BD9-81ED-4DB2-BD59-A6C34878D82A}">
                    <a16:rowId xmlns:a16="http://schemas.microsoft.com/office/drawing/2014/main" val="4161754283"/>
                  </a:ext>
                </a:extLst>
              </a:tr>
              <a:tr h="14171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27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PF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Προσωπικά φάουλ ανά αγώνα.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extLst>
                  <a:ext uri="{0D108BD9-81ED-4DB2-BD59-A6C34878D82A}">
                    <a16:rowId xmlns:a16="http://schemas.microsoft.com/office/drawing/2014/main" val="3684336302"/>
                  </a:ext>
                </a:extLst>
              </a:tr>
              <a:tr h="14171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28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PFD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Φάουλ που κέρδισε ο παίκτης ανά αγώνα.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extLst>
                  <a:ext uri="{0D108BD9-81ED-4DB2-BD59-A6C34878D82A}">
                    <a16:rowId xmlns:a16="http://schemas.microsoft.com/office/drawing/2014/main" val="332192952"/>
                  </a:ext>
                </a:extLst>
              </a:tr>
              <a:tr h="14171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29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PTS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Πόντοι που σημείωσε ανά αγώνα.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extLst>
                  <a:ext uri="{0D108BD9-81ED-4DB2-BD59-A6C34878D82A}">
                    <a16:rowId xmlns:a16="http://schemas.microsoft.com/office/drawing/2014/main" val="3172431346"/>
                  </a:ext>
                </a:extLst>
              </a:tr>
              <a:tr h="30050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30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PLUS_MINUS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 dirty="0">
                          <a:effectLst/>
                        </a:rPr>
                        <a:t>Μέσος όρος διαφοράς πόντων όταν ο παίκτης βρίσκεται στο παρκέ.</a:t>
                      </a:r>
                      <a:endParaRPr lang="el-GR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extLst>
                  <a:ext uri="{0D108BD9-81ED-4DB2-BD59-A6C34878D82A}">
                    <a16:rowId xmlns:a16="http://schemas.microsoft.com/office/drawing/2014/main" val="2282027898"/>
                  </a:ext>
                </a:extLst>
              </a:tr>
              <a:tr h="28125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31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DD2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Αριθμός </a:t>
                      </a:r>
                      <a:r>
                        <a:rPr lang="en-US" sz="700">
                          <a:effectLst/>
                        </a:rPr>
                        <a:t>double</a:t>
                      </a:r>
                      <a:r>
                        <a:rPr lang="el-GR" sz="700">
                          <a:effectLst/>
                        </a:rPr>
                        <a:t>-</a:t>
                      </a:r>
                      <a:r>
                        <a:rPr lang="en-US" sz="700">
                          <a:effectLst/>
                        </a:rPr>
                        <a:t>doubles</a:t>
                      </a:r>
                      <a:r>
                        <a:rPr lang="el-GR" sz="700">
                          <a:effectLst/>
                        </a:rPr>
                        <a:t> που πέτυχε κατά τη σεζόν.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extLst>
                  <a:ext uri="{0D108BD9-81ED-4DB2-BD59-A6C34878D82A}">
                    <a16:rowId xmlns:a16="http://schemas.microsoft.com/office/drawing/2014/main" val="851510354"/>
                  </a:ext>
                </a:extLst>
              </a:tr>
              <a:tr h="28125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32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TD3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Αριθμός </a:t>
                      </a:r>
                      <a:r>
                        <a:rPr lang="en-US" sz="700">
                          <a:effectLst/>
                        </a:rPr>
                        <a:t>triple</a:t>
                      </a:r>
                      <a:r>
                        <a:rPr lang="el-GR" sz="700">
                          <a:effectLst/>
                        </a:rPr>
                        <a:t>- </a:t>
                      </a:r>
                      <a:r>
                        <a:rPr lang="en-US" sz="700">
                          <a:effectLst/>
                        </a:rPr>
                        <a:t>double </a:t>
                      </a:r>
                      <a:r>
                        <a:rPr lang="el-GR" sz="700">
                          <a:effectLst/>
                        </a:rPr>
                        <a:t>που πέτυχε κατά τη σεζόν.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extLst>
                  <a:ext uri="{0D108BD9-81ED-4DB2-BD59-A6C34878D82A}">
                    <a16:rowId xmlns:a16="http://schemas.microsoft.com/office/drawing/2014/main" val="1655058716"/>
                  </a:ext>
                </a:extLst>
              </a:tr>
              <a:tr h="30050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33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OFF_RATING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Επιθετική αξιολόγηση του παίκτη (πόντοι ανά 100 κατοχές).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extLst>
                  <a:ext uri="{0D108BD9-81ED-4DB2-BD59-A6C34878D82A}">
                    <a16:rowId xmlns:a16="http://schemas.microsoft.com/office/drawing/2014/main" val="4079421998"/>
                  </a:ext>
                </a:extLst>
              </a:tr>
              <a:tr h="30050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34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DEF_RATING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Αμυντική αξιολόγηση του παίκτη (πόντοι που δέχτηκε ανά 100 κατοχές).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extLst>
                  <a:ext uri="{0D108BD9-81ED-4DB2-BD59-A6C34878D82A}">
                    <a16:rowId xmlns:a16="http://schemas.microsoft.com/office/drawing/2014/main" val="1530381871"/>
                  </a:ext>
                </a:extLst>
              </a:tr>
              <a:tr h="28125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35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NET_RATING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Καθαρή αξιολόγηση</a:t>
                      </a:r>
                      <a:r>
                        <a:rPr lang="en-US" sz="700">
                          <a:effectLst/>
                        </a:rPr>
                        <a:t> (OFF_RATING - DEF_RATING).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extLst>
                  <a:ext uri="{0D108BD9-81ED-4DB2-BD59-A6C34878D82A}">
                    <a16:rowId xmlns:a16="http://schemas.microsoft.com/office/drawing/2014/main" val="1733747657"/>
                  </a:ext>
                </a:extLst>
              </a:tr>
              <a:tr h="42987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36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AST_PCT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Ποσοστό ασίστ (ποσοστό των σουτ των συμπαικτών που δημιούργησε ο παίκτης όταν ήταν στο παρκέ).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extLst>
                  <a:ext uri="{0D108BD9-81ED-4DB2-BD59-A6C34878D82A}">
                    <a16:rowId xmlns:a16="http://schemas.microsoft.com/office/drawing/2014/main" val="1928364630"/>
                  </a:ext>
                </a:extLst>
              </a:tr>
              <a:tr h="14171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37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AST_TO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Αναλογία ασίστ προς λάθη.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extLst>
                  <a:ext uri="{0D108BD9-81ED-4DB2-BD59-A6C34878D82A}">
                    <a16:rowId xmlns:a16="http://schemas.microsoft.com/office/drawing/2014/main" val="2392377693"/>
                  </a:ext>
                </a:extLst>
              </a:tr>
              <a:tr h="14171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38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AST_RATIO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Ασίστ ανά 100 κατοχές.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extLst>
                  <a:ext uri="{0D108BD9-81ED-4DB2-BD59-A6C34878D82A}">
                    <a16:rowId xmlns:a16="http://schemas.microsoft.com/office/drawing/2014/main" val="1664720649"/>
                  </a:ext>
                </a:extLst>
              </a:tr>
              <a:tr h="30050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39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OREB_PCT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Ποσοστό επιθετικών ριμπάουντ (ποσοστό των επιθετικών ριμπάουντ που πήρε ο παίκτης).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extLst>
                  <a:ext uri="{0D108BD9-81ED-4DB2-BD59-A6C34878D82A}">
                    <a16:rowId xmlns:a16="http://schemas.microsoft.com/office/drawing/2014/main" val="975927315"/>
                  </a:ext>
                </a:extLst>
              </a:tr>
              <a:tr h="30050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40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DREB_PCT</a:t>
                      </a:r>
                      <a:endParaRPr lang="el-GR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 dirty="0">
                          <a:effectLst/>
                        </a:rPr>
                        <a:t>Ποσοστό αμυντικών ριμπάουντ (ποσοστό των αμυντικών ριμπάουντ που πήρε ο παίκτης).</a:t>
                      </a:r>
                      <a:endParaRPr lang="el-GR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745" marR="38745" marT="0" marB="0"/>
                </a:tc>
                <a:extLst>
                  <a:ext uri="{0D108BD9-81ED-4DB2-BD59-A6C34878D82A}">
                    <a16:rowId xmlns:a16="http://schemas.microsoft.com/office/drawing/2014/main" val="222535734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252D51F-E35C-B3CE-01B8-F37A973A0D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767767"/>
              </p:ext>
            </p:extLst>
          </p:nvPr>
        </p:nvGraphicFramePr>
        <p:xfrm>
          <a:off x="8667183" y="1347627"/>
          <a:ext cx="3332796" cy="36136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7777">
                  <a:extLst>
                    <a:ext uri="{9D8B030D-6E8A-4147-A177-3AD203B41FA5}">
                      <a16:colId xmlns:a16="http://schemas.microsoft.com/office/drawing/2014/main" val="3037280928"/>
                    </a:ext>
                  </a:extLst>
                </a:gridCol>
                <a:gridCol w="1026589">
                  <a:extLst>
                    <a:ext uri="{9D8B030D-6E8A-4147-A177-3AD203B41FA5}">
                      <a16:colId xmlns:a16="http://schemas.microsoft.com/office/drawing/2014/main" val="884112587"/>
                    </a:ext>
                  </a:extLst>
                </a:gridCol>
                <a:gridCol w="2068430">
                  <a:extLst>
                    <a:ext uri="{9D8B030D-6E8A-4147-A177-3AD203B41FA5}">
                      <a16:colId xmlns:a16="http://schemas.microsoft.com/office/drawing/2014/main" val="497540932"/>
                    </a:ext>
                  </a:extLst>
                </a:gridCol>
              </a:tblGrid>
              <a:tr h="17138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ID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 dirty="0">
                          <a:effectLst/>
                        </a:rPr>
                        <a:t>Όνομα Μεταβλητής</a:t>
                      </a:r>
                      <a:endParaRPr lang="el-G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 dirty="0">
                          <a:effectLst/>
                        </a:rPr>
                        <a:t>Σύντομη περιγραφή</a:t>
                      </a:r>
                      <a:endParaRPr lang="el-G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extLst>
                  <a:ext uri="{0D108BD9-81ED-4DB2-BD59-A6C34878D82A}">
                    <a16:rowId xmlns:a16="http://schemas.microsoft.com/office/drawing/2014/main" val="2863497485"/>
                  </a:ext>
                </a:extLst>
              </a:tr>
              <a:tr h="17138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41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REB_PCT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Ποσοστό συνολικών ριμπάουντ.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extLst>
                  <a:ext uri="{0D108BD9-81ED-4DB2-BD59-A6C34878D82A}">
                    <a16:rowId xmlns:a16="http://schemas.microsoft.com/office/drawing/2014/main" val="2898398624"/>
                  </a:ext>
                </a:extLst>
              </a:tr>
              <a:tr h="36343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42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TM_TOV_PCT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Ποσοστό λαθών της ομάδας (λάθη ομάδας ανά 100 κατοχές).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extLst>
                  <a:ext uri="{0D108BD9-81ED-4DB2-BD59-A6C34878D82A}">
                    <a16:rowId xmlns:a16="http://schemas.microsoft.com/office/drawing/2014/main" val="1923986050"/>
                  </a:ext>
                </a:extLst>
              </a:tr>
              <a:tr h="55548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43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TS_PCT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Πραγματικό ποσοστό ευστοχίας (συνυπολογίζονται τα σουτ, τα τρίποντα και οι ελεύθερες βολές).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extLst>
                  <a:ext uri="{0D108BD9-81ED-4DB2-BD59-A6C34878D82A}">
                    <a16:rowId xmlns:a16="http://schemas.microsoft.com/office/drawing/2014/main" val="4197633168"/>
                  </a:ext>
                </a:extLst>
              </a:tr>
              <a:tr h="55548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44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USG_PCT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Ποσοστό χρήσης (ποσοστό των φάσεων της ομάδας που χρησιμοποιεί ο παίκτης όταν είναι στο παρκέ).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extLst>
                  <a:ext uri="{0D108BD9-81ED-4DB2-BD59-A6C34878D82A}">
                    <a16:rowId xmlns:a16="http://schemas.microsoft.com/office/drawing/2014/main" val="4091374934"/>
                  </a:ext>
                </a:extLst>
              </a:tr>
              <a:tr h="36343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45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PACE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Κατοχές της ομάδας ανά 48 λεπτά όταν ο παίκτης είναι στο παρκέ.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extLst>
                  <a:ext uri="{0D108BD9-81ED-4DB2-BD59-A6C34878D82A}">
                    <a16:rowId xmlns:a16="http://schemas.microsoft.com/office/drawing/2014/main" val="2025881511"/>
                  </a:ext>
                </a:extLst>
              </a:tr>
              <a:tr h="36343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46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PIE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Εκτίμηση επιρροής του παίκτη (επίδραση στην επιτυχία της ομάδας).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extLst>
                  <a:ext uri="{0D108BD9-81ED-4DB2-BD59-A6C34878D82A}">
                    <a16:rowId xmlns:a16="http://schemas.microsoft.com/office/drawing/2014/main" val="3725998948"/>
                  </a:ext>
                </a:extLst>
              </a:tr>
              <a:tr h="36343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47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POSS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Συνολικές κατοχές που χρησιμοποίησε ο παίκτης κατά τη σεζόν.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extLst>
                  <a:ext uri="{0D108BD9-81ED-4DB2-BD59-A6C34878D82A}">
                    <a16:rowId xmlns:a16="http://schemas.microsoft.com/office/drawing/2014/main" val="2469371399"/>
                  </a:ext>
                </a:extLst>
              </a:tr>
              <a:tr h="17138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48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college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Κολλέγιο που φοίτησε ο παίκτης 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extLst>
                  <a:ext uri="{0D108BD9-81ED-4DB2-BD59-A6C34878D82A}">
                    <a16:rowId xmlns:a16="http://schemas.microsoft.com/office/drawing/2014/main" val="3781244371"/>
                  </a:ext>
                </a:extLst>
              </a:tr>
              <a:tr h="17138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49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country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Χώρα καταγωγής του παίκτη.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extLst>
                  <a:ext uri="{0D108BD9-81ED-4DB2-BD59-A6C34878D82A}">
                    <a16:rowId xmlns:a16="http://schemas.microsoft.com/office/drawing/2014/main" val="294803699"/>
                  </a:ext>
                </a:extLst>
              </a:tr>
              <a:tr h="36343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>
                          <a:effectLst/>
                        </a:rPr>
                        <a:t>50</a:t>
                      </a:r>
                      <a:endParaRPr lang="el-G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 dirty="0" err="1">
                          <a:effectLst/>
                        </a:rPr>
                        <a:t>Draft_number</a:t>
                      </a:r>
                      <a:endParaRPr lang="el-G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700" dirty="0">
                          <a:effectLst/>
                        </a:rPr>
                        <a:t>Θέση στο </a:t>
                      </a:r>
                      <a:r>
                        <a:rPr lang="en-US" sz="700" dirty="0">
                          <a:effectLst/>
                        </a:rPr>
                        <a:t>draft</a:t>
                      </a:r>
                      <a:r>
                        <a:rPr lang="el-GR" sz="700" dirty="0">
                          <a:effectLst/>
                        </a:rPr>
                        <a:t> (π.χ., 1 για πρώτη επιλογή, "</a:t>
                      </a:r>
                      <a:r>
                        <a:rPr lang="en-US" sz="700" dirty="0">
                          <a:effectLst/>
                        </a:rPr>
                        <a:t>Undrafted</a:t>
                      </a:r>
                      <a:r>
                        <a:rPr lang="el-GR" sz="700" dirty="0">
                          <a:effectLst/>
                        </a:rPr>
                        <a:t>" αν δεν επιλέχθηκε).</a:t>
                      </a:r>
                      <a:endParaRPr lang="el-G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98" marR="63298" marT="0" marB="0"/>
                </a:tc>
                <a:extLst>
                  <a:ext uri="{0D108BD9-81ED-4DB2-BD59-A6C34878D82A}">
                    <a16:rowId xmlns:a16="http://schemas.microsoft.com/office/drawing/2014/main" val="3986335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079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CC01A-9969-0366-FD9C-425ED1042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2FE0E-14DB-8093-C81F-751DEA8A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199" y="410827"/>
            <a:ext cx="10267155" cy="936800"/>
          </a:xfrm>
        </p:spPr>
        <p:txBody>
          <a:bodyPr/>
          <a:lstStyle/>
          <a:p>
            <a:r>
              <a:rPr lang="el-GR" sz="3200" dirty="0"/>
              <a:t>Προ-επεξεργασία Δεδομένων  - </a:t>
            </a:r>
            <a:r>
              <a:rPr lang="en-US" sz="3200" dirty="0"/>
              <a:t>Data Preprocessing</a:t>
            </a:r>
            <a:endParaRPr lang="el-GR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DF622F-8463-87F5-D9BF-1F45DC490819}"/>
              </a:ext>
            </a:extLst>
          </p:cNvPr>
          <p:cNvSpPr txBox="1"/>
          <p:nvPr/>
        </p:nvSpPr>
        <p:spPr>
          <a:xfrm>
            <a:off x="1115128" y="1523319"/>
            <a:ext cx="39712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Καθαρισμός</a:t>
            </a:r>
          </a:p>
          <a:p>
            <a:endParaRPr lang="el-GR" sz="24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27308E-E6C7-8AE3-F616-F087E89C7BDE}"/>
              </a:ext>
            </a:extLst>
          </p:cNvPr>
          <p:cNvSpPr txBox="1"/>
          <p:nvPr/>
        </p:nvSpPr>
        <p:spPr>
          <a:xfrm>
            <a:off x="1048199" y="4206483"/>
            <a:ext cx="397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Μετασχηματισμοί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025D617-DD6B-1990-DB30-54AF065E6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989151"/>
              </p:ext>
            </p:extLst>
          </p:nvPr>
        </p:nvGraphicFramePr>
        <p:xfrm>
          <a:off x="1324841" y="2354316"/>
          <a:ext cx="10096501" cy="1217146"/>
        </p:xfrm>
        <a:graphic>
          <a:graphicData uri="http://schemas.openxmlformats.org/drawingml/2006/table">
            <a:tbl>
              <a:tblPr/>
              <a:tblGrid>
                <a:gridCol w="1471742">
                  <a:extLst>
                    <a:ext uri="{9D8B030D-6E8A-4147-A177-3AD203B41FA5}">
                      <a16:colId xmlns:a16="http://schemas.microsoft.com/office/drawing/2014/main" val="1396315072"/>
                    </a:ext>
                  </a:extLst>
                </a:gridCol>
                <a:gridCol w="822785">
                  <a:extLst>
                    <a:ext uri="{9D8B030D-6E8A-4147-A177-3AD203B41FA5}">
                      <a16:colId xmlns:a16="http://schemas.microsoft.com/office/drawing/2014/main" val="2636687527"/>
                    </a:ext>
                  </a:extLst>
                </a:gridCol>
                <a:gridCol w="602604">
                  <a:extLst>
                    <a:ext uri="{9D8B030D-6E8A-4147-A177-3AD203B41FA5}">
                      <a16:colId xmlns:a16="http://schemas.microsoft.com/office/drawing/2014/main" val="1244294764"/>
                    </a:ext>
                  </a:extLst>
                </a:gridCol>
                <a:gridCol w="793373">
                  <a:extLst>
                    <a:ext uri="{9D8B030D-6E8A-4147-A177-3AD203B41FA5}">
                      <a16:colId xmlns:a16="http://schemas.microsoft.com/office/drawing/2014/main" val="877773097"/>
                    </a:ext>
                  </a:extLst>
                </a:gridCol>
                <a:gridCol w="1431623">
                  <a:extLst>
                    <a:ext uri="{9D8B030D-6E8A-4147-A177-3AD203B41FA5}">
                      <a16:colId xmlns:a16="http://schemas.microsoft.com/office/drawing/2014/main" val="1310668400"/>
                    </a:ext>
                  </a:extLst>
                </a:gridCol>
                <a:gridCol w="1367446">
                  <a:extLst>
                    <a:ext uri="{9D8B030D-6E8A-4147-A177-3AD203B41FA5}">
                      <a16:colId xmlns:a16="http://schemas.microsoft.com/office/drawing/2014/main" val="2708175835"/>
                    </a:ext>
                  </a:extLst>
                </a:gridCol>
                <a:gridCol w="1034276">
                  <a:extLst>
                    <a:ext uri="{9D8B030D-6E8A-4147-A177-3AD203B41FA5}">
                      <a16:colId xmlns:a16="http://schemas.microsoft.com/office/drawing/2014/main" val="3593226312"/>
                    </a:ext>
                  </a:extLst>
                </a:gridCol>
                <a:gridCol w="1100910">
                  <a:extLst>
                    <a:ext uri="{9D8B030D-6E8A-4147-A177-3AD203B41FA5}">
                      <a16:colId xmlns:a16="http://schemas.microsoft.com/office/drawing/2014/main" val="1146038413"/>
                    </a:ext>
                  </a:extLst>
                </a:gridCol>
                <a:gridCol w="1471742">
                  <a:extLst>
                    <a:ext uri="{9D8B030D-6E8A-4147-A177-3AD203B41FA5}">
                      <a16:colId xmlns:a16="http://schemas.microsoft.com/office/drawing/2014/main" val="3951694579"/>
                    </a:ext>
                  </a:extLst>
                </a:gridCol>
              </a:tblGrid>
              <a:tr h="17387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Player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Base Salary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Season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SEASON.1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PLAYER_NAME_x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TEAM_ABBREVIATION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DRAFT_ROUND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DRAFT_NUMBER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PLAYER_NAME_y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191821"/>
                  </a:ext>
                </a:extLst>
              </a:tr>
              <a:tr h="17387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kevin garnett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$19,610,000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kevin garnett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MIN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kevin garnett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878850"/>
                  </a:ext>
                </a:extLst>
              </a:tr>
              <a:tr h="17387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shaquille oneal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$19,285,715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shaquille oneal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LAL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shaquille oneal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851218"/>
                  </a:ext>
                </a:extLst>
              </a:tr>
              <a:tr h="17387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walt williams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$4,250,000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walt williams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HOU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walt williams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164773"/>
                  </a:ext>
                </a:extLst>
              </a:tr>
              <a:tr h="17387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scott williams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$4,200,000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scott williams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MIL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Undrafted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Undrafted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scott williams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439532"/>
                  </a:ext>
                </a:extLst>
              </a:tr>
              <a:tr h="17387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dan majerle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$4,050,000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dan majerle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MIA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dan majerle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257608"/>
                  </a:ext>
                </a:extLst>
              </a:tr>
              <a:tr h="17387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brad miller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$4,000,000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brad miller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CHI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Undrafted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Undrafted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brad miller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572199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91834742-78BF-E144-243C-890B72DFA19F}"/>
              </a:ext>
            </a:extLst>
          </p:cNvPr>
          <p:cNvSpPr/>
          <p:nvPr/>
        </p:nvSpPr>
        <p:spPr>
          <a:xfrm>
            <a:off x="3592945" y="2530009"/>
            <a:ext cx="1320800" cy="10414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635310-A3F2-3AEB-7A5E-471CC37F455F}"/>
              </a:ext>
            </a:extLst>
          </p:cNvPr>
          <p:cNvSpPr/>
          <p:nvPr/>
        </p:nvSpPr>
        <p:spPr>
          <a:xfrm>
            <a:off x="2761674" y="2530008"/>
            <a:ext cx="120072" cy="10414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37AC76-C91A-5FE9-0D0C-965DC900302E}"/>
              </a:ext>
            </a:extLst>
          </p:cNvPr>
          <p:cNvSpPr txBox="1"/>
          <p:nvPr/>
        </p:nvSpPr>
        <p:spPr>
          <a:xfrm>
            <a:off x="1847802" y="1993958"/>
            <a:ext cx="150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Αφαίρεση «$»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42A2B0-2D76-6F7A-2B6E-B87FB88BE8D1}"/>
              </a:ext>
            </a:extLst>
          </p:cNvPr>
          <p:cNvSpPr txBox="1"/>
          <p:nvPr/>
        </p:nvSpPr>
        <p:spPr>
          <a:xfrm>
            <a:off x="3033810" y="3704306"/>
            <a:ext cx="3475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Αφαίρεση διπλότυπων εγγραφών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52F9F5-A645-CD31-24BA-1ECF961AA5A4}"/>
              </a:ext>
            </a:extLst>
          </p:cNvPr>
          <p:cNvSpPr txBox="1"/>
          <p:nvPr/>
        </p:nvSpPr>
        <p:spPr>
          <a:xfrm>
            <a:off x="1468723" y="4933837"/>
            <a:ext cx="97032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l-GR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Κλιμάκωση</a:t>
            </a: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l-GR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(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Scaling</a:t>
            </a:r>
            <a:r>
              <a:rPr lang="el-GR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)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των δεδομένων μειώνοντας τον αντίκτυπο των ακραίων τιμών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(outliers)</a:t>
            </a: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l-GR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Κανονικοποίηση (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normalization) </a:t>
            </a: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των δεδομένων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  <a:endParaRPr lang="el-GR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EE47C2C-CC5A-6092-3C4D-C951737EFD6E}"/>
              </a:ext>
            </a:extLst>
          </p:cNvPr>
          <p:cNvGrpSpPr/>
          <p:nvPr/>
        </p:nvGrpSpPr>
        <p:grpSpPr>
          <a:xfrm>
            <a:off x="7037546" y="5263824"/>
            <a:ext cx="3759993" cy="1410296"/>
            <a:chOff x="7037546" y="5263824"/>
            <a:chExt cx="3759993" cy="1410296"/>
          </a:xfrm>
        </p:grpSpPr>
        <p:pic>
          <p:nvPicPr>
            <p:cNvPr id="6" name="Picture 5" descr="A graph of a number of data&#10;&#10;AI-generated content may be incorrect.">
              <a:extLst>
                <a:ext uri="{FF2B5EF4-FFF2-40B4-BE49-F238E27FC236}">
                  <a16:creationId xmlns:a16="http://schemas.microsoft.com/office/drawing/2014/main" id="{089BFCFF-FEB4-6B07-A618-366FBAB4C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37546" y="5494007"/>
              <a:ext cx="1752151" cy="1180113"/>
            </a:xfrm>
            <a:prstGeom prst="rect">
              <a:avLst/>
            </a:prstGeom>
          </p:spPr>
        </p:pic>
        <p:pic>
          <p:nvPicPr>
            <p:cNvPr id="8" name="Picture 7" descr="A graph of a function&#10;&#10;AI-generated content may be incorrect.">
              <a:extLst>
                <a:ext uri="{FF2B5EF4-FFF2-40B4-BE49-F238E27FC236}">
                  <a16:creationId xmlns:a16="http://schemas.microsoft.com/office/drawing/2014/main" id="{C4065F03-C82C-0917-8FEC-ECCEEDA06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47902" y="5495702"/>
              <a:ext cx="1749637" cy="117841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40A4D9-F648-02CD-6437-44D7F5749E7F}"/>
                </a:ext>
              </a:extLst>
            </p:cNvPr>
            <p:cNvSpPr txBox="1"/>
            <p:nvPr/>
          </p:nvSpPr>
          <p:spPr>
            <a:xfrm>
              <a:off x="7305222" y="5263824"/>
              <a:ext cx="12801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Original</a:t>
              </a:r>
              <a:endParaRPr lang="el-GR" sz="12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792C340-B300-5BD4-5199-D8F18FA879A5}"/>
                </a:ext>
              </a:extLst>
            </p:cNvPr>
            <p:cNvSpPr txBox="1"/>
            <p:nvPr/>
          </p:nvSpPr>
          <p:spPr>
            <a:xfrm>
              <a:off x="9196183" y="5263824"/>
              <a:ext cx="145307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Transformed</a:t>
              </a:r>
              <a:endParaRPr lang="el-GR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710EB4AE-C8C3-DF5E-86F3-4A128607966A}"/>
              </a:ext>
            </a:extLst>
          </p:cNvPr>
          <p:cNvSpPr txBox="1"/>
          <p:nvPr/>
        </p:nvSpPr>
        <p:spPr>
          <a:xfrm>
            <a:off x="6090040" y="5845857"/>
            <a:ext cx="1082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right skewed</a:t>
            </a:r>
            <a:endParaRPr lang="el-GR" sz="1100" dirty="0">
              <a:solidFill>
                <a:srgbClr val="FF0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698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600130-08FA-9442-7A8A-8D86AC334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AE4E3-1444-EBA6-2BA9-69C2F4B92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199" y="410827"/>
            <a:ext cx="10267155" cy="936800"/>
          </a:xfrm>
        </p:spPr>
        <p:txBody>
          <a:bodyPr/>
          <a:lstStyle/>
          <a:p>
            <a:r>
              <a:rPr lang="el-GR" sz="3200" dirty="0"/>
              <a:t>Προ-επεξεργασία Δεδομένων  - </a:t>
            </a:r>
            <a:r>
              <a:rPr lang="en-US" sz="3200" dirty="0"/>
              <a:t>Data Preprocessing</a:t>
            </a:r>
            <a:endParaRPr lang="el-GR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8F6DAE-F076-46D8-76F3-D36F0A6F84C9}"/>
              </a:ext>
            </a:extLst>
          </p:cNvPr>
          <p:cNvSpPr txBox="1"/>
          <p:nvPr/>
        </p:nvSpPr>
        <p:spPr>
          <a:xfrm>
            <a:off x="1115127" y="1523319"/>
            <a:ext cx="84075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Κωδικοποίηση κατηγορικών τιμών </a:t>
            </a:r>
            <a:r>
              <a:rPr lang="en-US" sz="24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(label encoding)</a:t>
            </a:r>
            <a:endParaRPr lang="el-GR" sz="24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endParaRPr lang="el-GR" sz="24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325FCBC-26FD-1394-AE3E-35ED7E400C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829092"/>
              </p:ext>
            </p:extLst>
          </p:nvPr>
        </p:nvGraphicFramePr>
        <p:xfrm>
          <a:off x="1324841" y="2354316"/>
          <a:ext cx="10096501" cy="1217146"/>
        </p:xfrm>
        <a:graphic>
          <a:graphicData uri="http://schemas.openxmlformats.org/drawingml/2006/table">
            <a:tbl>
              <a:tblPr/>
              <a:tblGrid>
                <a:gridCol w="1471742">
                  <a:extLst>
                    <a:ext uri="{9D8B030D-6E8A-4147-A177-3AD203B41FA5}">
                      <a16:colId xmlns:a16="http://schemas.microsoft.com/office/drawing/2014/main" val="1396315072"/>
                    </a:ext>
                  </a:extLst>
                </a:gridCol>
                <a:gridCol w="822785">
                  <a:extLst>
                    <a:ext uri="{9D8B030D-6E8A-4147-A177-3AD203B41FA5}">
                      <a16:colId xmlns:a16="http://schemas.microsoft.com/office/drawing/2014/main" val="2636687527"/>
                    </a:ext>
                  </a:extLst>
                </a:gridCol>
                <a:gridCol w="602604">
                  <a:extLst>
                    <a:ext uri="{9D8B030D-6E8A-4147-A177-3AD203B41FA5}">
                      <a16:colId xmlns:a16="http://schemas.microsoft.com/office/drawing/2014/main" val="1244294764"/>
                    </a:ext>
                  </a:extLst>
                </a:gridCol>
                <a:gridCol w="793373">
                  <a:extLst>
                    <a:ext uri="{9D8B030D-6E8A-4147-A177-3AD203B41FA5}">
                      <a16:colId xmlns:a16="http://schemas.microsoft.com/office/drawing/2014/main" val="877773097"/>
                    </a:ext>
                  </a:extLst>
                </a:gridCol>
                <a:gridCol w="1431623">
                  <a:extLst>
                    <a:ext uri="{9D8B030D-6E8A-4147-A177-3AD203B41FA5}">
                      <a16:colId xmlns:a16="http://schemas.microsoft.com/office/drawing/2014/main" val="1310668400"/>
                    </a:ext>
                  </a:extLst>
                </a:gridCol>
                <a:gridCol w="1367446">
                  <a:extLst>
                    <a:ext uri="{9D8B030D-6E8A-4147-A177-3AD203B41FA5}">
                      <a16:colId xmlns:a16="http://schemas.microsoft.com/office/drawing/2014/main" val="2708175835"/>
                    </a:ext>
                  </a:extLst>
                </a:gridCol>
                <a:gridCol w="1034276">
                  <a:extLst>
                    <a:ext uri="{9D8B030D-6E8A-4147-A177-3AD203B41FA5}">
                      <a16:colId xmlns:a16="http://schemas.microsoft.com/office/drawing/2014/main" val="3593226312"/>
                    </a:ext>
                  </a:extLst>
                </a:gridCol>
                <a:gridCol w="1100910">
                  <a:extLst>
                    <a:ext uri="{9D8B030D-6E8A-4147-A177-3AD203B41FA5}">
                      <a16:colId xmlns:a16="http://schemas.microsoft.com/office/drawing/2014/main" val="1146038413"/>
                    </a:ext>
                  </a:extLst>
                </a:gridCol>
                <a:gridCol w="1471742">
                  <a:extLst>
                    <a:ext uri="{9D8B030D-6E8A-4147-A177-3AD203B41FA5}">
                      <a16:colId xmlns:a16="http://schemas.microsoft.com/office/drawing/2014/main" val="3951694579"/>
                    </a:ext>
                  </a:extLst>
                </a:gridCol>
              </a:tblGrid>
              <a:tr h="17387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Player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Base Salary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Season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SEASON.1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PLAYER_NAME_x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TEAM_ABBREVIATION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DRAFT_ROUND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DRAFT_NUMBER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PLAYER_NAME_y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191821"/>
                  </a:ext>
                </a:extLst>
              </a:tr>
              <a:tr h="17387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kevin garnett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$19,610,000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kevin garnett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MIN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kevin garnett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878850"/>
                  </a:ext>
                </a:extLst>
              </a:tr>
              <a:tr h="17387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shaquille oneal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$19,285,715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shaquille oneal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LAL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shaquille oneal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851218"/>
                  </a:ext>
                </a:extLst>
              </a:tr>
              <a:tr h="17387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walt williams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$4,250,000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walt williams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HOU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walt williams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164773"/>
                  </a:ext>
                </a:extLst>
              </a:tr>
              <a:tr h="17387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scott williams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$4,200,000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scott williams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MIL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Undrafted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Undrafted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scott williams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439532"/>
                  </a:ext>
                </a:extLst>
              </a:tr>
              <a:tr h="17387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dan majerle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$4,050,000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dan majerle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MIA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dan majerle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257608"/>
                  </a:ext>
                </a:extLst>
              </a:tr>
              <a:tr h="17387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brad miller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$4,000,000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l-G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1/1/2000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brad miller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CHI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Undrafted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Undrafted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brad miller</a:t>
                      </a:r>
                    </a:p>
                  </a:txBody>
                  <a:tcPr marL="8694" marR="8694" marT="8694" marB="0" anchor="b">
                    <a:lnL>
                      <a:noFill/>
                    </a:lnL>
                    <a:lnR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D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572199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EC9FDBC4-8B86-59D1-7496-207BF9F29147}"/>
              </a:ext>
            </a:extLst>
          </p:cNvPr>
          <p:cNvSpPr/>
          <p:nvPr/>
        </p:nvSpPr>
        <p:spPr>
          <a:xfrm>
            <a:off x="3592945" y="2530009"/>
            <a:ext cx="1320800" cy="10414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695B8D-80B3-C45B-BEBA-FD8C23CDA019}"/>
              </a:ext>
            </a:extLst>
          </p:cNvPr>
          <p:cNvSpPr/>
          <p:nvPr/>
        </p:nvSpPr>
        <p:spPr>
          <a:xfrm>
            <a:off x="7587671" y="2530008"/>
            <a:ext cx="2295237" cy="104145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3A32FF-C31E-79E9-486F-6B8C8DEB82D5}"/>
              </a:ext>
            </a:extLst>
          </p:cNvPr>
          <p:cNvSpPr/>
          <p:nvPr/>
        </p:nvSpPr>
        <p:spPr>
          <a:xfrm>
            <a:off x="2761674" y="2530008"/>
            <a:ext cx="120072" cy="10414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B75E3A-9F4A-794E-4D09-D40ABFA55A7D}"/>
              </a:ext>
            </a:extLst>
          </p:cNvPr>
          <p:cNvSpPr txBox="1"/>
          <p:nvPr/>
        </p:nvSpPr>
        <p:spPr>
          <a:xfrm>
            <a:off x="1847802" y="1993958"/>
            <a:ext cx="150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Αφαίρεση «$»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3EBB14-0586-9277-7989-E0278FC77DD6}"/>
              </a:ext>
            </a:extLst>
          </p:cNvPr>
          <p:cNvSpPr txBox="1"/>
          <p:nvPr/>
        </p:nvSpPr>
        <p:spPr>
          <a:xfrm>
            <a:off x="3033810" y="3704306"/>
            <a:ext cx="3475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Αφαίρεση διπλότυπων εγγραφών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CF5E7A-484E-BAAB-B8BC-02CCBABE5E30}"/>
              </a:ext>
            </a:extLst>
          </p:cNvPr>
          <p:cNvSpPr txBox="1"/>
          <p:nvPr/>
        </p:nvSpPr>
        <p:spPr>
          <a:xfrm>
            <a:off x="7349782" y="1938879"/>
            <a:ext cx="3451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Μετατροπή </a:t>
            </a:r>
            <a:r>
              <a:rPr lang="en-US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Undrafted</a:t>
            </a:r>
            <a:r>
              <a:rPr lang="el-GR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σε αριθμό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4EC921-2054-E8C8-EE0A-95C765BA48F0}"/>
              </a:ext>
            </a:extLst>
          </p:cNvPr>
          <p:cNvSpPr/>
          <p:nvPr/>
        </p:nvSpPr>
        <p:spPr>
          <a:xfrm>
            <a:off x="6410036" y="2530008"/>
            <a:ext cx="369456" cy="104145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52B721A-D22E-6EBD-3AA4-19460965E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490507"/>
              </p:ext>
            </p:extLst>
          </p:nvPr>
        </p:nvGraphicFramePr>
        <p:xfrm>
          <a:off x="7666179" y="4402459"/>
          <a:ext cx="2138219" cy="13335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528619">
                  <a:extLst>
                    <a:ext uri="{9D8B030D-6E8A-4147-A177-3AD203B41FA5}">
                      <a16:colId xmlns:a16="http://schemas.microsoft.com/office/drawing/2014/main" val="265027894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0019635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 u="none" strike="noStrike" dirty="0">
                          <a:effectLst/>
                        </a:rPr>
                        <a:t>TEAM_ABBREVIATION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 u="none" strike="noStrike" dirty="0">
                          <a:effectLst/>
                        </a:rPr>
                        <a:t>Label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9423809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u="none" strike="noStrike" dirty="0">
                          <a:effectLst/>
                        </a:rPr>
                        <a:t>MIN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l-GR" sz="1000" u="none" strike="noStrike">
                          <a:effectLst/>
                        </a:rPr>
                        <a:t>0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60841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u="none" strike="noStrike" dirty="0">
                          <a:effectLst/>
                        </a:rPr>
                        <a:t>LAL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l-GR" sz="1000" u="none" strike="noStrike">
                          <a:effectLst/>
                        </a:rPr>
                        <a:t>1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043875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u="none" strike="noStrike" dirty="0">
                          <a:effectLst/>
                        </a:rPr>
                        <a:t>HOU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l-GR" sz="1000" u="none" strike="noStrike">
                          <a:effectLst/>
                        </a:rPr>
                        <a:t>2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40610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u="none" strike="noStrike" dirty="0">
                          <a:effectLst/>
                        </a:rPr>
                        <a:t>MIL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l-GR" sz="1000" u="none" strike="noStrike">
                          <a:effectLst/>
                        </a:rPr>
                        <a:t>3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090236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u="none" strike="noStrike">
                          <a:effectLst/>
                        </a:rPr>
                        <a:t>MIA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l-GR" sz="1000" u="none" strike="noStrike" dirty="0">
                          <a:effectLst/>
                        </a:rPr>
                        <a:t>4</a:t>
                      </a:r>
                      <a:endParaRPr lang="el-G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212989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u="none" strike="noStrike">
                          <a:effectLst/>
                        </a:rPr>
                        <a:t>CHI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l-GR" sz="1000" u="none" strike="noStrike" dirty="0">
                          <a:effectLst/>
                        </a:rPr>
                        <a:t>5</a:t>
                      </a:r>
                      <a:endParaRPr lang="el-G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2714576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01A3B2D-A929-AF36-982C-8B5BABB322CA}"/>
              </a:ext>
            </a:extLst>
          </p:cNvPr>
          <p:cNvSpPr txBox="1"/>
          <p:nvPr/>
        </p:nvSpPr>
        <p:spPr>
          <a:xfrm>
            <a:off x="6410036" y="3704306"/>
            <a:ext cx="611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Κωδικοποίηση των αρχικών ομάδας σε ετικέτες (</a:t>
            </a:r>
            <a:r>
              <a:rPr lang="en-US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labels)</a:t>
            </a:r>
            <a:endParaRPr lang="el-GR" dirty="0">
              <a:solidFill>
                <a:srgbClr val="0070C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727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32C114-EFD2-CA75-0CE7-D77F3EE04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DE04-9945-7DBE-79E5-B2A029EBD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199" y="410827"/>
            <a:ext cx="10267155" cy="936800"/>
          </a:xfrm>
        </p:spPr>
        <p:txBody>
          <a:bodyPr/>
          <a:lstStyle/>
          <a:p>
            <a:r>
              <a:rPr lang="el-GR" sz="3200" dirty="0"/>
              <a:t>Ανάλυση Δεδομένων</a:t>
            </a:r>
            <a:r>
              <a:rPr lang="en-US" sz="3200" dirty="0"/>
              <a:t> – Exploratory Data Analysis</a:t>
            </a:r>
            <a:endParaRPr lang="el-GR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095AF3-1185-8D96-D98B-AF14D8D27723}"/>
              </a:ext>
            </a:extLst>
          </p:cNvPr>
          <p:cNvSpPr txBox="1"/>
          <p:nvPr/>
        </p:nvSpPr>
        <p:spPr>
          <a:xfrm>
            <a:off x="1115127" y="1523319"/>
            <a:ext cx="84075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Μελέτη συσχέτισης</a:t>
            </a:r>
            <a:r>
              <a:rPr lang="en-US" sz="24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(correlation)</a:t>
            </a:r>
            <a:endParaRPr lang="el-GR" sz="24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endParaRPr lang="el-GR" sz="24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pic>
        <p:nvPicPr>
          <p:cNvPr id="7" name="Picture 6" descr="A red and white grid&#10;&#10;AI-generated content may be incorrect.">
            <a:extLst>
              <a:ext uri="{FF2B5EF4-FFF2-40B4-BE49-F238E27FC236}">
                <a16:creationId xmlns:a16="http://schemas.microsoft.com/office/drawing/2014/main" id="{6114A5F2-1CB1-DF9F-01BA-1E70EC43D68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7637" y="2243509"/>
            <a:ext cx="5139246" cy="45203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054BD0-0BDD-C39F-7601-E8039E9D3996}"/>
              </a:ext>
            </a:extLst>
          </p:cNvPr>
          <p:cNvSpPr txBox="1"/>
          <p:nvPr/>
        </p:nvSpPr>
        <p:spPr>
          <a:xfrm>
            <a:off x="1194317" y="2354316"/>
            <a:ext cx="71099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Δεδομένα που παρουσιάζουν υψηλή συσχέτιση με τη τιμή του μισθού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PTS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FGM</a:t>
            </a: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Field Goals made = </a:t>
            </a: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Εύστοχα σουτ)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FGA </a:t>
            </a:r>
            <a:r>
              <a:rPr lang="en-US" dirty="0">
                <a:latin typeface="CIDFont+F3"/>
                <a:ea typeface="Source Sans Pro" panose="020B0503030403020204" pitchFamily="34" charset="0"/>
              </a:rPr>
              <a:t>(Field Goal attempts = </a:t>
            </a:r>
            <a:r>
              <a:rPr lang="el-GR" dirty="0">
                <a:latin typeface="CIDFont+F3"/>
                <a:ea typeface="Source Sans Pro" panose="020B0503030403020204" pitchFamily="34" charset="0"/>
              </a:rPr>
              <a:t>Προσπάθειες για σουτ</a:t>
            </a:r>
            <a:r>
              <a:rPr lang="en-US" dirty="0">
                <a:latin typeface="CIDFont+F3"/>
                <a:ea typeface="Source Sans Pro" panose="020B0503030403020204" pitchFamily="34" charset="0"/>
              </a:rPr>
              <a:t> )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FTM (Free throws made = </a:t>
            </a: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Εύστοχες ελεύθερες βολές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MIN</a:t>
            </a:r>
            <a:endParaRPr lang="el-GR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43F66D-A9D9-6961-7545-9318DBFB5C73}"/>
              </a:ext>
            </a:extLst>
          </p:cNvPr>
          <p:cNvSpPr txBox="1"/>
          <p:nvPr/>
        </p:nvSpPr>
        <p:spPr>
          <a:xfrm>
            <a:off x="1194317" y="4939639"/>
            <a:ext cx="89546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Ζεύγη δεδομένων που παρουσιάζουν υψηλή συσχέτιση μεταξύ τους (</a:t>
            </a:r>
            <a:r>
              <a:rPr lang="en-US" sz="1800" b="0" i="0" u="none" strike="noStrike" baseline="0" dirty="0">
                <a:latin typeface="CIDFont+F3"/>
              </a:rPr>
              <a:t>multicollinearity) 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IDFont+F3"/>
                <a:ea typeface="Source Sans Pro" panose="020B0503030403020204" pitchFamily="34" charset="0"/>
              </a:rPr>
              <a:t>PTS - FGA</a:t>
            </a:r>
            <a:endParaRPr lang="el-GR" dirty="0">
              <a:latin typeface="CIDFont+F3"/>
              <a:ea typeface="Source Sans Pro" panose="020B05030304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IDFont+F3"/>
                <a:ea typeface="Source Sans Pro" panose="020B0503030403020204" pitchFamily="34" charset="0"/>
              </a:rPr>
              <a:t>PTS - FG3A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IDFont+F3"/>
                <a:ea typeface="Source Sans Pro" panose="020B0503030403020204" pitchFamily="34" charset="0"/>
              </a:rPr>
              <a:t>FTM - FTA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l-GR" dirty="0">
                <a:latin typeface="CIDFont+F3"/>
                <a:ea typeface="Source Sans Pro" panose="020B0503030403020204" pitchFamily="34" charset="0"/>
              </a:rPr>
              <a:t>ΜΙΝ</a:t>
            </a:r>
            <a:r>
              <a:rPr lang="en-US" dirty="0">
                <a:latin typeface="CIDFont+F3"/>
                <a:ea typeface="Source Sans Pro" panose="020B0503030403020204" pitchFamily="34" charset="0"/>
              </a:rPr>
              <a:t> </a:t>
            </a:r>
            <a:r>
              <a:rPr lang="el-GR" dirty="0">
                <a:latin typeface="CIDFont+F3"/>
                <a:ea typeface="Source Sans Pro" panose="020B0503030403020204" pitchFamily="34" charset="0"/>
              </a:rPr>
              <a:t>-</a:t>
            </a:r>
            <a:r>
              <a:rPr lang="en-US" dirty="0">
                <a:latin typeface="CIDFont+F3"/>
                <a:ea typeface="Source Sans Pro" panose="020B0503030403020204" pitchFamily="34" charset="0"/>
              </a:rPr>
              <a:t> POSS</a:t>
            </a:r>
            <a:endParaRPr lang="el-GR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F530A7-7C8D-9478-648C-0DBA6960DD0F}"/>
              </a:ext>
            </a:extLst>
          </p:cNvPr>
          <p:cNvSpPr txBox="1"/>
          <p:nvPr/>
        </p:nvSpPr>
        <p:spPr>
          <a:xfrm>
            <a:off x="1115126" y="4300544"/>
            <a:ext cx="84075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Επιλογή χαρακτηριστικών (</a:t>
            </a:r>
            <a:r>
              <a:rPr lang="en-US" sz="24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feature selection)</a:t>
            </a:r>
            <a:endParaRPr lang="el-GR" sz="24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endParaRPr lang="el-GR" sz="24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273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5FDD62-AE42-7AF3-6EEA-3BFAE9FC3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54C81-EB54-A8D0-E69C-343005668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199" y="410827"/>
            <a:ext cx="10267155" cy="936800"/>
          </a:xfrm>
        </p:spPr>
        <p:txBody>
          <a:bodyPr/>
          <a:lstStyle/>
          <a:p>
            <a:r>
              <a:rPr lang="el-GR" sz="3200" dirty="0"/>
              <a:t>Εκπαίδευση μοντέλων και Αξιολόγηση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B4A4D4-D677-83C8-1833-380562AD6D4E}"/>
              </a:ext>
            </a:extLst>
          </p:cNvPr>
          <p:cNvSpPr txBox="1"/>
          <p:nvPr/>
        </p:nvSpPr>
        <p:spPr>
          <a:xfrm>
            <a:off x="1115127" y="1523319"/>
            <a:ext cx="84075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Τα μοντέλα</a:t>
            </a:r>
          </a:p>
          <a:p>
            <a:endParaRPr lang="el-GR" sz="24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B0D0BE-B47E-A981-F12B-EACDEB5708E9}"/>
              </a:ext>
            </a:extLst>
          </p:cNvPr>
          <p:cNvSpPr txBox="1"/>
          <p:nvPr/>
        </p:nvSpPr>
        <p:spPr>
          <a:xfrm>
            <a:off x="1115127" y="2090694"/>
            <a:ext cx="66344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Γραμμικά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l-GR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Μοντέλα </a:t>
            </a:r>
            <a:endParaRPr lang="en-US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Κοινή Γραμμική παλινδρόμηση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Lasso (L1 regularization)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Enet(L1 &amp; L2 regularization)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Kernel Ridge (L2 regularization + kernel</a:t>
            </a: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 για μοντελοποίηση μη γραμμικών σχέσεων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))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SVR ( </a:t>
            </a: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Χρήση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kernel</a:t>
            </a: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 για μοντελοποίηση μη γραμμικών σχέσεων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689E0D-55B9-AEFD-1946-E0BF4BC6F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572" y="4336399"/>
            <a:ext cx="1724335" cy="17243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6E9BE0-433C-C9E8-2D17-40040B6D0D81}"/>
              </a:ext>
            </a:extLst>
          </p:cNvPr>
          <p:cNvSpPr txBox="1"/>
          <p:nvPr/>
        </p:nvSpPr>
        <p:spPr>
          <a:xfrm>
            <a:off x="7602573" y="2090694"/>
            <a:ext cx="41768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800" b="1" i="0" u="none" strike="noStrike" baseline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Μοντέλα </a:t>
            </a:r>
            <a:r>
              <a:rPr lang="el-GR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β</a:t>
            </a:r>
            <a:r>
              <a:rPr lang="el-GR" sz="1800" b="1" i="0" u="none" strike="noStrike" baseline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ασισμένα σε Δέντρα απόφασης</a:t>
            </a:r>
            <a:endParaRPr lang="en-US" sz="1800" b="1" i="0" u="none" strike="noStrike" baseline="0" dirty="0">
              <a:latin typeface="CIDFont+F3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IDFont+F3"/>
                <a:ea typeface="Source Sans Pro" panose="020B0503030403020204" pitchFamily="34" charset="0"/>
              </a:rPr>
              <a:t>Random Forest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u="sng" dirty="0" err="1">
                <a:latin typeface="CIDFont+F3"/>
                <a:ea typeface="Source Sans Pro" panose="020B0503030403020204" pitchFamily="34" charset="0"/>
              </a:rPr>
              <a:t>XGBoost</a:t>
            </a:r>
            <a:endParaRPr lang="en-US" u="sng" dirty="0">
              <a:latin typeface="CIDFont+F3"/>
              <a:ea typeface="Source Sans Pro" panose="020B05030304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u="sng" dirty="0" err="1">
                <a:latin typeface="CIDFont+F3"/>
                <a:ea typeface="Source Sans Pro" panose="020B0503030403020204" pitchFamily="34" charset="0"/>
              </a:rPr>
              <a:t>LightGBM</a:t>
            </a:r>
            <a:endParaRPr lang="en-US" u="sng" dirty="0">
              <a:latin typeface="CIDFont+F3"/>
              <a:ea typeface="Source Sans Pro" panose="020B05030304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u="sng" dirty="0">
                <a:latin typeface="CIDFont+F3"/>
                <a:ea typeface="Source Sans Pro" panose="020B0503030403020204" pitchFamily="34" charset="0"/>
              </a:rPr>
              <a:t>CatBoost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l-GR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17DDAF5-27EA-F06D-1C8A-DA9E735BB6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2623" y="4406799"/>
            <a:ext cx="3901421" cy="185576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2C0CDBA-4D31-BFAE-83DB-15D38F10E1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249" y="4406799"/>
            <a:ext cx="2436088" cy="1855764"/>
          </a:xfrm>
          <a:prstGeom prst="rect">
            <a:avLst/>
          </a:prstGeom>
        </p:spPr>
      </p:pic>
      <p:sp>
        <p:nvSpPr>
          <p:cNvPr id="24" name="Arrow: Right 23">
            <a:extLst>
              <a:ext uri="{FF2B5EF4-FFF2-40B4-BE49-F238E27FC236}">
                <a16:creationId xmlns:a16="http://schemas.microsoft.com/office/drawing/2014/main" id="{96FF21B8-76DF-9111-3D51-AD8873B7B8A1}"/>
              </a:ext>
            </a:extLst>
          </p:cNvPr>
          <p:cNvSpPr/>
          <p:nvPr/>
        </p:nvSpPr>
        <p:spPr>
          <a:xfrm>
            <a:off x="9061276" y="3295835"/>
            <a:ext cx="298476" cy="2663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9607A0-B1D7-B897-DD1C-344A3FDC77B0}"/>
              </a:ext>
            </a:extLst>
          </p:cNvPr>
          <p:cNvSpPr txBox="1"/>
          <p:nvPr/>
        </p:nvSpPr>
        <p:spPr>
          <a:xfrm>
            <a:off x="9751979" y="3429000"/>
            <a:ext cx="2358955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l-GR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Κάθε δέντρο προσπαθεί να διορθώσει τα λάθη των προηγούμενων και η τελική πρόβλεψη είναι ο συνδυασμός</a:t>
            </a:r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l-GR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των προβλέψεων από όλα τα δέντρα.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534482F-7E42-2584-89AA-C4CB801B1D91}"/>
              </a:ext>
            </a:extLst>
          </p:cNvPr>
          <p:cNvSpPr/>
          <p:nvPr/>
        </p:nvSpPr>
        <p:spPr>
          <a:xfrm>
            <a:off x="9453502" y="2685581"/>
            <a:ext cx="298476" cy="26633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69E98D-1DEE-E430-A6DB-F59300E1A30A}"/>
              </a:ext>
            </a:extLst>
          </p:cNvPr>
          <p:cNvSpPr txBox="1"/>
          <p:nvPr/>
        </p:nvSpPr>
        <p:spPr>
          <a:xfrm>
            <a:off x="9751978" y="2471201"/>
            <a:ext cx="2358955" cy="9054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l-GR" sz="1050" dirty="0"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rPr>
              <a:t>Το </a:t>
            </a:r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rPr>
              <a:t>RF </a:t>
            </a:r>
            <a:r>
              <a:rPr lang="el-GR" sz="1050" dirty="0"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rPr>
              <a:t>δημιουργεί πολλαπλά δέντρα αποφάσεων που εκπαιδεύονται σε τυχαία υποσύνολα των δεδομένων και των features, και συνδυάζει τον μέσο όρο των προβλέψεων τους.</a:t>
            </a:r>
          </a:p>
        </p:txBody>
      </p:sp>
    </p:spTree>
    <p:extLst>
      <p:ext uri="{BB962C8B-B14F-4D97-AF65-F5344CB8AC3E}">
        <p14:creationId xmlns:p14="http://schemas.microsoft.com/office/powerpoint/2010/main" val="539462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C2881D-16DB-C1A3-E052-A0AA602F0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3400E-4008-7FBC-5053-DC2558141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199" y="410827"/>
            <a:ext cx="10267155" cy="936800"/>
          </a:xfrm>
        </p:spPr>
        <p:txBody>
          <a:bodyPr/>
          <a:lstStyle/>
          <a:p>
            <a:r>
              <a:rPr lang="el-GR" sz="3200" dirty="0"/>
              <a:t>Εκπαίδευση μοντέλων και Αξιολόγηση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1C8D99-3BB5-2F47-AC4F-4F9E8273C11A}"/>
              </a:ext>
            </a:extLst>
          </p:cNvPr>
          <p:cNvSpPr txBox="1"/>
          <p:nvPr/>
        </p:nvSpPr>
        <p:spPr>
          <a:xfrm>
            <a:off x="1115127" y="1523319"/>
            <a:ext cx="84075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Επικύρωση - </a:t>
            </a:r>
            <a:r>
              <a:rPr lang="en-US" sz="24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Validation</a:t>
            </a:r>
            <a:endParaRPr lang="el-GR" sz="24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endParaRPr lang="el-GR" sz="24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6E00B3-E311-ABCB-3231-FCF76FFCBCE4}"/>
              </a:ext>
            </a:extLst>
          </p:cNvPr>
          <p:cNvSpPr txBox="1"/>
          <p:nvPr/>
        </p:nvSpPr>
        <p:spPr>
          <a:xfrm>
            <a:off x="1048199" y="2354316"/>
            <a:ext cx="5269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Rolling window (</a:t>
            </a: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κυλιόμενο παράθυρο)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2" name="Picture 11" descr="A graph with blue dots and white text&#10;&#10;AI-generated content may be incorrect.">
            <a:extLst>
              <a:ext uri="{FF2B5EF4-FFF2-40B4-BE49-F238E27FC236}">
                <a16:creationId xmlns:a16="http://schemas.microsoft.com/office/drawing/2014/main" id="{D1AEC2CA-2D1A-C51C-9055-7E0CCA7AB70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399" y="4799623"/>
            <a:ext cx="3921511" cy="1798977"/>
          </a:xfrm>
          <a:prstGeom prst="rect">
            <a:avLst/>
          </a:prstGeom>
        </p:spPr>
      </p:pic>
      <p:pic>
        <p:nvPicPr>
          <p:cNvPr id="14" name="Picture 13" descr="A graph with blue dots and numbers&#10;&#10;AI-generated content may be incorrect.">
            <a:extLst>
              <a:ext uri="{FF2B5EF4-FFF2-40B4-BE49-F238E27FC236}">
                <a16:creationId xmlns:a16="http://schemas.microsoft.com/office/drawing/2014/main" id="{7AF5C182-7263-6A7D-8FBD-4C02BA0993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399" y="2723648"/>
            <a:ext cx="3921510" cy="179897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2FCABEB-AB5D-BF7B-7B24-00BDFFA35F9B}"/>
              </a:ext>
            </a:extLst>
          </p:cNvPr>
          <p:cNvSpPr txBox="1"/>
          <p:nvPr/>
        </p:nvSpPr>
        <p:spPr>
          <a:xfrm>
            <a:off x="1048199" y="447645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Expanding window</a:t>
            </a: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(επεκτεινόμενο παράθυρο)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5DF0EF-25FF-E4B9-99F7-C7A2747B6853}"/>
              </a:ext>
            </a:extLst>
          </p:cNvPr>
          <p:cNvSpPr txBox="1"/>
          <p:nvPr/>
        </p:nvSpPr>
        <p:spPr>
          <a:xfrm>
            <a:off x="6181776" y="2345342"/>
            <a:ext cx="52694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Τα μοντέλα που εμφάνισαν το </a:t>
            </a:r>
            <a:r>
              <a:rPr lang="el-GR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μικρότερο σφάλμα</a:t>
            </a: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CatBoost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LGBM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RF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XGBoost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016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0E5418-8D7F-4CDA-80B3-78E09D533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96217-DA9B-0568-1627-0D37E0454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199" y="410827"/>
            <a:ext cx="10267155" cy="936800"/>
          </a:xfrm>
        </p:spPr>
        <p:txBody>
          <a:bodyPr/>
          <a:lstStyle/>
          <a:p>
            <a:r>
              <a:rPr lang="el-GR" sz="3200" dirty="0"/>
              <a:t>Βελτιστοποίηση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2C301-F4EE-CB02-CD55-D5E8E18654D4}"/>
              </a:ext>
            </a:extLst>
          </p:cNvPr>
          <p:cNvSpPr txBox="1"/>
          <p:nvPr/>
        </p:nvSpPr>
        <p:spPr>
          <a:xfrm>
            <a:off x="1115127" y="1523319"/>
            <a:ext cx="84075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Αναζήτηση πλέγματος – </a:t>
            </a:r>
            <a:r>
              <a:rPr lang="en-US" sz="24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Grid Search</a:t>
            </a:r>
            <a:endParaRPr lang="el-GR" sz="24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endParaRPr lang="el-GR" sz="24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3BC240-0A1A-F594-7ED5-161EACCD4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658647"/>
              </p:ext>
            </p:extLst>
          </p:nvPr>
        </p:nvGraphicFramePr>
        <p:xfrm>
          <a:off x="1115127" y="2622372"/>
          <a:ext cx="7079326" cy="2379812"/>
        </p:xfrm>
        <a:graphic>
          <a:graphicData uri="http://schemas.openxmlformats.org/drawingml/2006/table">
            <a:tbl>
              <a:tblPr firstRow="1" firstCol="1" bandRow="1"/>
              <a:tblGrid>
                <a:gridCol w="1441284">
                  <a:extLst>
                    <a:ext uri="{9D8B030D-6E8A-4147-A177-3AD203B41FA5}">
                      <a16:colId xmlns:a16="http://schemas.microsoft.com/office/drawing/2014/main" val="4107532582"/>
                    </a:ext>
                  </a:extLst>
                </a:gridCol>
                <a:gridCol w="1418805">
                  <a:extLst>
                    <a:ext uri="{9D8B030D-6E8A-4147-A177-3AD203B41FA5}">
                      <a16:colId xmlns:a16="http://schemas.microsoft.com/office/drawing/2014/main" val="2960547822"/>
                    </a:ext>
                  </a:extLst>
                </a:gridCol>
                <a:gridCol w="1387679">
                  <a:extLst>
                    <a:ext uri="{9D8B030D-6E8A-4147-A177-3AD203B41FA5}">
                      <a16:colId xmlns:a16="http://schemas.microsoft.com/office/drawing/2014/main" val="3134247094"/>
                    </a:ext>
                  </a:extLst>
                </a:gridCol>
                <a:gridCol w="1443014">
                  <a:extLst>
                    <a:ext uri="{9D8B030D-6E8A-4147-A177-3AD203B41FA5}">
                      <a16:colId xmlns:a16="http://schemas.microsoft.com/office/drawing/2014/main" val="3762111764"/>
                    </a:ext>
                  </a:extLst>
                </a:gridCol>
                <a:gridCol w="1388544">
                  <a:extLst>
                    <a:ext uri="{9D8B030D-6E8A-4147-A177-3AD203B41FA5}">
                      <a16:colId xmlns:a16="http://schemas.microsoft.com/office/drawing/2014/main" val="3696425357"/>
                    </a:ext>
                  </a:extLst>
                </a:gridCol>
              </a:tblGrid>
              <a:tr h="90981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2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20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Μοντέλο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</a:t>
                      </a:r>
                      <a:endParaRPr lang="el-G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l-GR" sz="120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Μη Βελτιστοποιημένο</a:t>
                      </a:r>
                      <a:endParaRPr lang="el-G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Optimized</a:t>
                      </a:r>
                      <a:endParaRPr lang="el-G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20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Βελτιστοποιημένο</a:t>
                      </a:r>
                      <a:endParaRPr lang="el-G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060879"/>
                  </a:ext>
                </a:extLst>
              </a:tr>
              <a:tr h="36392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RMSE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R2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RMSE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R2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273299"/>
                  </a:ext>
                </a:extLst>
              </a:tr>
              <a:tr h="36392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LightGBM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0.701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0.662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0.686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0.676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45473"/>
                  </a:ext>
                </a:extLst>
              </a:tr>
              <a:tr h="3782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0.751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0.612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0.688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0.674</a:t>
                      </a:r>
                      <a:endParaRPr lang="el-G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00977"/>
                  </a:ext>
                </a:extLst>
              </a:tr>
              <a:tr h="36392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2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CatBoost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0.688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0.674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0.683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0.679</a:t>
                      </a:r>
                      <a:endParaRPr lang="el-G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7661793"/>
                  </a:ext>
                </a:extLst>
              </a:tr>
            </a:tbl>
          </a:graphicData>
        </a:graphic>
      </p:graphicFrame>
      <p:pic>
        <p:nvPicPr>
          <p:cNvPr id="8" name="Graphic 7" descr="Magnifying glass with solid fill">
            <a:extLst>
              <a:ext uri="{FF2B5EF4-FFF2-40B4-BE49-F238E27FC236}">
                <a16:creationId xmlns:a16="http://schemas.microsoft.com/office/drawing/2014/main" id="{1D6FF9F6-E1A0-916B-721F-3D77EB294B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4699747">
            <a:off x="185445" y="5551017"/>
            <a:ext cx="1198179" cy="11981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BE1C3E-E9BB-B2CB-C370-69AF65C9710F}"/>
              </a:ext>
            </a:extLst>
          </p:cNvPr>
          <p:cNvSpPr txBox="1"/>
          <p:nvPr/>
        </p:nvSpPr>
        <p:spPr>
          <a:xfrm>
            <a:off x="8737600" y="1452815"/>
            <a:ext cx="33435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RMSE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(Root Mean Squared Error): </a:t>
            </a:r>
            <a:r>
              <a:rPr lang="el-GR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Ρίζα του μέσου τετραγωνικού σφάλματος</a:t>
            </a:r>
          </a:p>
          <a:p>
            <a:endParaRPr lang="en-US" sz="14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R-Squared 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</a:t>
            </a:r>
            <a:r>
              <a:rPr lang="en-US" sz="1400" i="0" dirty="0">
                <a:solidFill>
                  <a:srgbClr val="111111"/>
                </a:solidFill>
                <a:effectLst/>
                <a:latin typeface="SourceSansPro"/>
              </a:rPr>
              <a:t>R</a:t>
            </a:r>
            <a:r>
              <a:rPr lang="en-US" sz="1400" i="0" baseline="30000" dirty="0">
                <a:solidFill>
                  <a:srgbClr val="111111"/>
                </a:solidFill>
                <a:effectLst/>
                <a:latin typeface="SourceSansPro"/>
              </a:rPr>
              <a:t>2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</a:t>
            </a:r>
            <a:r>
              <a:rPr lang="el-GR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  <a:r>
              <a:rPr lang="el-GR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l-GR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Το ποσοστό διακύμανσης στην εξαρτημένη μεταβλητή (μισθός) που μπορεί να εξηγηθεί από τις ανεξάρτητες μεταβλητές (τα υπόλοιπα χαρακτηριστικά).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71DA158-3677-393E-18C1-AAC7881C2F69}"/>
              </a:ext>
            </a:extLst>
          </p:cNvPr>
          <p:cNvGrpSpPr/>
          <p:nvPr/>
        </p:nvGrpSpPr>
        <p:grpSpPr>
          <a:xfrm>
            <a:off x="8997017" y="4428819"/>
            <a:ext cx="2927129" cy="2220999"/>
            <a:chOff x="8997017" y="4428819"/>
            <a:chExt cx="2927129" cy="2220999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F732E441-E1DD-551C-1207-5AF4B4FF184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731" t="10753" r="53804" b="5053"/>
            <a:stretch/>
          </p:blipFill>
          <p:spPr bwMode="auto">
            <a:xfrm>
              <a:off x="9280362" y="4705818"/>
              <a:ext cx="1944000" cy="19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05E64F9-0ECF-2DD8-D7A1-448A1CA27398}"/>
                </a:ext>
              </a:extLst>
            </p:cNvPr>
            <p:cNvSpPr txBox="1"/>
            <p:nvPr/>
          </p:nvSpPr>
          <p:spPr>
            <a:xfrm>
              <a:off x="9467272" y="4428819"/>
              <a:ext cx="24568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Hyperparameter #1</a:t>
              </a:r>
              <a:endParaRPr lang="el-GR" sz="12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FF3701D-8362-4EF5-097D-972F58F120E3}"/>
                </a:ext>
              </a:extLst>
            </p:cNvPr>
            <p:cNvSpPr txBox="1"/>
            <p:nvPr/>
          </p:nvSpPr>
          <p:spPr>
            <a:xfrm rot="16200000">
              <a:off x="8340493" y="5285240"/>
              <a:ext cx="15900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Hyperparameter #2</a:t>
              </a:r>
              <a:endParaRPr lang="el-GR" sz="12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3E2E0D6-55C5-D006-E4E6-258A03D355BD}"/>
              </a:ext>
            </a:extLst>
          </p:cNvPr>
          <p:cNvSpPr txBox="1"/>
          <p:nvPr/>
        </p:nvSpPr>
        <p:spPr>
          <a:xfrm>
            <a:off x="3282819" y="5479639"/>
            <a:ext cx="3099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RMSE</a:t>
            </a:r>
            <a:r>
              <a:rPr lang="en-US" b="1" dirty="0"/>
              <a:t> Lower</a:t>
            </a:r>
            <a:r>
              <a:rPr lang="en-US" dirty="0"/>
              <a:t> is Better</a:t>
            </a:r>
            <a:endParaRPr lang="el-G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B76A0B-7B5D-F582-41FE-8FD2B0A98307}"/>
              </a:ext>
            </a:extLst>
          </p:cNvPr>
          <p:cNvSpPr txBox="1"/>
          <p:nvPr/>
        </p:nvSpPr>
        <p:spPr>
          <a:xfrm>
            <a:off x="3598863" y="59260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R2</a:t>
            </a:r>
            <a:r>
              <a:rPr lang="en-US" b="1" dirty="0"/>
              <a:t> Higher</a:t>
            </a:r>
            <a:r>
              <a:rPr lang="en-US" dirty="0"/>
              <a:t> is Better</a:t>
            </a:r>
            <a:endParaRPr lang="el-GR" dirty="0"/>
          </a:p>
        </p:txBody>
      </p:sp>
      <p:pic>
        <p:nvPicPr>
          <p:cNvPr id="22" name="Graphic 21" descr="Arrow: Clockwise curve with solid fill">
            <a:extLst>
              <a:ext uri="{FF2B5EF4-FFF2-40B4-BE49-F238E27FC236}">
                <a16:creationId xmlns:a16="http://schemas.microsoft.com/office/drawing/2014/main" id="{B8E4BC58-AB00-1219-AEAB-C3C75357A8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61850" y="5848971"/>
            <a:ext cx="914400" cy="914400"/>
          </a:xfrm>
          <a:prstGeom prst="rect">
            <a:avLst/>
          </a:prstGeom>
        </p:spPr>
      </p:pic>
      <p:pic>
        <p:nvPicPr>
          <p:cNvPr id="23" name="Graphic 22" descr="Arrow: Clockwise curve with solid fill">
            <a:extLst>
              <a:ext uri="{FF2B5EF4-FFF2-40B4-BE49-F238E27FC236}">
                <a16:creationId xmlns:a16="http://schemas.microsoft.com/office/drawing/2014/main" id="{A9F26D62-1583-C702-A154-1192381F5B9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6011742" y="51520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4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85FDF9-C9A5-7D63-D55C-6FED8BA38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F8FCA-7B1F-DF67-E9EA-21F9D8841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199" y="410827"/>
            <a:ext cx="10267155" cy="936800"/>
          </a:xfrm>
        </p:spPr>
        <p:txBody>
          <a:bodyPr/>
          <a:lstStyle/>
          <a:p>
            <a:r>
              <a:rPr lang="el-GR" sz="3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Σημαντικά Χαρακτηριστικά – </a:t>
            </a:r>
            <a:r>
              <a:rPr lang="en-US" sz="3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Feature Importance</a:t>
            </a:r>
            <a:endParaRPr lang="el-GR" sz="32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pic>
        <p:nvPicPr>
          <p:cNvPr id="3" name="Picture 2" descr="A graph of numbers and letters&#10;&#10;AI-generated content may be incorrect.">
            <a:extLst>
              <a:ext uri="{FF2B5EF4-FFF2-40B4-BE49-F238E27FC236}">
                <a16:creationId xmlns:a16="http://schemas.microsoft.com/office/drawing/2014/main" id="{5D6F0177-24A9-0C5E-91DE-23EE2F9AD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636" y="1782508"/>
            <a:ext cx="3809216" cy="46646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C6B560-F467-9017-CE89-6D806F86C792}"/>
              </a:ext>
            </a:extLst>
          </p:cNvPr>
          <p:cNvSpPr txBox="1"/>
          <p:nvPr/>
        </p:nvSpPr>
        <p:spPr>
          <a:xfrm>
            <a:off x="5592147" y="1782508"/>
            <a:ext cx="6005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Τα </a:t>
            </a:r>
            <a:r>
              <a:rPr lang="el-GR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20 πιο σημαντικά χαρακτηριστικά </a:t>
            </a: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και ο αντίκτυπος τους στην τιμή της πρόβλεψης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C772F5-8306-4F60-0FB2-D8906C64DC29}"/>
              </a:ext>
            </a:extLst>
          </p:cNvPr>
          <p:cNvSpPr txBox="1"/>
          <p:nvPr/>
        </p:nvSpPr>
        <p:spPr>
          <a:xfrm>
            <a:off x="5592147" y="4124171"/>
            <a:ext cx="28498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High</a:t>
            </a: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 ηλικία</a:t>
            </a:r>
          </a:p>
          <a:p>
            <a:r>
              <a:rPr lang="en-US" dirty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Low</a:t>
            </a: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 ηλικία</a:t>
            </a:r>
          </a:p>
          <a:p>
            <a:r>
              <a:rPr lang="en-US" dirty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Low</a:t>
            </a: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 αριθμός επιλογής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Draft</a:t>
            </a:r>
            <a:endParaRPr lang="el-GR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BAEDF5-B945-AA62-07F0-0A41AAD0BB26}"/>
              </a:ext>
            </a:extLst>
          </p:cNvPr>
          <p:cNvSpPr txBox="1"/>
          <p:nvPr/>
        </p:nvSpPr>
        <p:spPr>
          <a:xfrm>
            <a:off x="9311950" y="4114840"/>
            <a:ext cx="22860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Higher</a:t>
            </a: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 μισθός</a:t>
            </a:r>
          </a:p>
          <a:p>
            <a:r>
              <a:rPr lang="en-US" dirty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Lower</a:t>
            </a: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 μισθός</a:t>
            </a:r>
          </a:p>
          <a:p>
            <a:r>
              <a:rPr lang="en-US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Higher</a:t>
            </a: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 μισθός</a:t>
            </a:r>
          </a:p>
        </p:txBody>
      </p:sp>
      <p:pic>
        <p:nvPicPr>
          <p:cNvPr id="10" name="Graphic 9" descr="Arrow: Straight with solid fill">
            <a:extLst>
              <a:ext uri="{FF2B5EF4-FFF2-40B4-BE49-F238E27FC236}">
                <a16:creationId xmlns:a16="http://schemas.microsoft.com/office/drawing/2014/main" id="{042A38BC-87E5-3992-EF0B-83F83CB4E4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8346634" y="4219810"/>
            <a:ext cx="732052" cy="7320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EE548E1-7183-A23E-B038-E0910DD207C1}"/>
              </a:ext>
            </a:extLst>
          </p:cNvPr>
          <p:cNvSpPr txBox="1"/>
          <p:nvPr/>
        </p:nvSpPr>
        <p:spPr>
          <a:xfrm>
            <a:off x="5592147" y="3745508"/>
            <a:ext cx="1981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Feature value</a:t>
            </a:r>
            <a:endParaRPr lang="el-GR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08CDA7-D597-F3BD-D4A2-63FAAFEFDC03}"/>
              </a:ext>
            </a:extLst>
          </p:cNvPr>
          <p:cNvSpPr txBox="1"/>
          <p:nvPr/>
        </p:nvSpPr>
        <p:spPr>
          <a:xfrm>
            <a:off x="9311950" y="3754839"/>
            <a:ext cx="1981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Impact</a:t>
            </a:r>
            <a:endParaRPr lang="el-GR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085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5A6A6D-69C1-C2DA-D19D-6278FC7F1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7CCEB-0100-756A-E11C-205A8E26C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199" y="410827"/>
            <a:ext cx="10267155" cy="936800"/>
          </a:xfrm>
        </p:spPr>
        <p:txBody>
          <a:bodyPr/>
          <a:lstStyle/>
          <a:p>
            <a:r>
              <a:rPr lang="el-GR" sz="3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Μέθοδοι Συνόλου - </a:t>
            </a:r>
            <a:r>
              <a:rPr lang="en-US" sz="3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Ensembles</a:t>
            </a:r>
            <a:endParaRPr lang="el-GR" sz="32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D2DCBA-71F5-1389-8E57-188C50C619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3" b="-1013"/>
          <a:stretch/>
        </p:blipFill>
        <p:spPr bwMode="auto">
          <a:xfrm>
            <a:off x="7341450" y="2641589"/>
            <a:ext cx="4217095" cy="3554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18" descr="A diagram of a software company&#10;&#10;AI-generated content may be incorrect.">
            <a:extLst>
              <a:ext uri="{FF2B5EF4-FFF2-40B4-BE49-F238E27FC236}">
                <a16:creationId xmlns:a16="http://schemas.microsoft.com/office/drawing/2014/main" id="{9034D8C2-9E02-64D8-F991-71DE17EF74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3006" y="2641589"/>
            <a:ext cx="3169000" cy="3306483"/>
          </a:xfrm>
          <a:prstGeom prst="rect">
            <a:avLst/>
          </a:prstGeom>
        </p:spPr>
      </p:pic>
      <p:pic>
        <p:nvPicPr>
          <p:cNvPr id="21" name="Picture 20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7A5B6A53-E296-A217-9746-D5C4900AD98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20" y="2641589"/>
            <a:ext cx="3074642" cy="260777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F4D5DF2-1F10-860D-BE66-1F923A6149C8}"/>
              </a:ext>
            </a:extLst>
          </p:cNvPr>
          <p:cNvSpPr txBox="1"/>
          <p:nvPr/>
        </p:nvSpPr>
        <p:spPr>
          <a:xfrm>
            <a:off x="1048199" y="1450600"/>
            <a:ext cx="10811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Συνδυασμός πολλαπλών μοντέλων μηχανικής μάθησης και συνδυασμός των αποτελεσμάτων τους </a:t>
            </a:r>
            <a:endParaRPr lang="en-US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75CDD2-17C8-9F9E-070E-A53253EAF234}"/>
              </a:ext>
            </a:extLst>
          </p:cNvPr>
          <p:cNvSpPr txBox="1"/>
          <p:nvPr/>
        </p:nvSpPr>
        <p:spPr>
          <a:xfrm>
            <a:off x="2948139" y="2068300"/>
            <a:ext cx="6295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Οι δύο μέθοδοι που χρησιμοποιήθηκαν και ο συνδυασμός τους.</a:t>
            </a:r>
            <a:endParaRPr lang="el-GR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A722D3-7AC4-04B8-3F37-176794239B20}"/>
              </a:ext>
            </a:extLst>
          </p:cNvPr>
          <p:cNvSpPr txBox="1"/>
          <p:nvPr/>
        </p:nvSpPr>
        <p:spPr>
          <a:xfrm>
            <a:off x="492350" y="6011775"/>
            <a:ext cx="2687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Παλινδρόμηση «Ψήφου»</a:t>
            </a:r>
            <a:endParaRPr lang="el-GR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96D309-C66B-383D-287D-1AAEAC2CA998}"/>
              </a:ext>
            </a:extLst>
          </p:cNvPr>
          <p:cNvSpPr txBox="1"/>
          <p:nvPr/>
        </p:nvSpPr>
        <p:spPr>
          <a:xfrm>
            <a:off x="4013615" y="6001441"/>
            <a:ext cx="2687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Παλινδρόμηση «Στοίβας»</a:t>
            </a:r>
            <a:endParaRPr lang="el-GR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130901-9452-EB08-6D38-4A1B3A0D6552}"/>
              </a:ext>
            </a:extLst>
          </p:cNvPr>
          <p:cNvSpPr txBox="1"/>
          <p:nvPr/>
        </p:nvSpPr>
        <p:spPr>
          <a:xfrm>
            <a:off x="7470236" y="5991107"/>
            <a:ext cx="3959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Συνδυασμός «Στοίβας» και «Ψήφου» 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673894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4CD036-EF8E-591B-C32A-12D12D309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A10B2-F524-DF0D-1F36-AAA96F93D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199" y="410827"/>
            <a:ext cx="10267155" cy="936800"/>
          </a:xfrm>
        </p:spPr>
        <p:txBody>
          <a:bodyPr/>
          <a:lstStyle/>
          <a:p>
            <a:r>
              <a:rPr lang="el-GR" sz="3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Μέθοδοι Συνόλου - </a:t>
            </a:r>
            <a:r>
              <a:rPr lang="en-US" sz="3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Ensembles</a:t>
            </a:r>
            <a:endParaRPr lang="el-GR" sz="32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BFBA146-7C86-1FFD-4E66-A1A16E5F79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562824"/>
              </p:ext>
            </p:extLst>
          </p:nvPr>
        </p:nvGraphicFramePr>
        <p:xfrm>
          <a:off x="5011409" y="2074925"/>
          <a:ext cx="7074535" cy="2012010"/>
        </p:xfrm>
        <a:graphic>
          <a:graphicData uri="http://schemas.openxmlformats.org/drawingml/2006/table">
            <a:tbl>
              <a:tblPr firstRow="1" firstCol="1" bandRow="1"/>
              <a:tblGrid>
                <a:gridCol w="2357625">
                  <a:extLst>
                    <a:ext uri="{9D8B030D-6E8A-4147-A177-3AD203B41FA5}">
                      <a16:colId xmlns:a16="http://schemas.microsoft.com/office/drawing/2014/main" val="2468933765"/>
                    </a:ext>
                  </a:extLst>
                </a:gridCol>
                <a:gridCol w="2358455">
                  <a:extLst>
                    <a:ext uri="{9D8B030D-6E8A-4147-A177-3AD203B41FA5}">
                      <a16:colId xmlns:a16="http://schemas.microsoft.com/office/drawing/2014/main" val="2330782819"/>
                    </a:ext>
                  </a:extLst>
                </a:gridCol>
                <a:gridCol w="2358455">
                  <a:extLst>
                    <a:ext uri="{9D8B030D-6E8A-4147-A177-3AD203B41FA5}">
                      <a16:colId xmlns:a16="http://schemas.microsoft.com/office/drawing/2014/main" val="412972868"/>
                    </a:ext>
                  </a:extLst>
                </a:gridCol>
              </a:tblGrid>
              <a:tr h="2900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2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Μοντέλα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RMSE</a:t>
                      </a:r>
                      <a:endParaRPr lang="el-G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R2</a:t>
                      </a:r>
                      <a:endParaRPr lang="el-G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748386"/>
                  </a:ext>
                </a:extLst>
              </a:tr>
              <a:tr h="2715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Complex_Stacking_reg</a:t>
                      </a:r>
                      <a:endParaRPr lang="el-G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0.6720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0.6890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728784"/>
                  </a:ext>
                </a:extLst>
              </a:tr>
              <a:tr h="2900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Stacking_reg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0.6721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0.6888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365654"/>
                  </a:ext>
                </a:extLst>
              </a:tr>
              <a:tr h="2900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Voting_reg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0.6803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0.6812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01853"/>
                  </a:ext>
                </a:extLst>
              </a:tr>
              <a:tr h="2900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Catboost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(optimized)</a:t>
                      </a:r>
                      <a:endParaRPr lang="el-G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0.6827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0.6790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051054"/>
                  </a:ext>
                </a:extLst>
              </a:tr>
              <a:tr h="2900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XgBoost (optimized)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0.6877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0.6742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360700"/>
                  </a:ext>
                </a:extLst>
              </a:tr>
              <a:tr h="2900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Lgbm (optimized)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0.6860</a:t>
                      </a:r>
                      <a:endParaRPr lang="el-G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0.6759</a:t>
                      </a:r>
                      <a:endParaRPr lang="el-G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243876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2639998-8406-D3D0-5DCE-6F3A5880F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39" y="2074925"/>
            <a:ext cx="4217095" cy="355485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3FC1E7-9908-5E3A-3F45-6F13AD68FAF2}"/>
              </a:ext>
            </a:extLst>
          </p:cNvPr>
          <p:cNvSpPr txBox="1"/>
          <p:nvPr/>
        </p:nvSpPr>
        <p:spPr>
          <a:xfrm>
            <a:off x="8382154" y="4601038"/>
            <a:ext cx="3099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RMSE</a:t>
            </a:r>
            <a:r>
              <a:rPr lang="en-US" b="1" dirty="0"/>
              <a:t> Lower</a:t>
            </a:r>
            <a:r>
              <a:rPr lang="en-US" dirty="0"/>
              <a:t> is Better</a:t>
            </a:r>
            <a:endParaRPr lang="el-G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0BCF18-EFDC-CF5F-A5F7-3BC58C3C42FA}"/>
              </a:ext>
            </a:extLst>
          </p:cNvPr>
          <p:cNvSpPr txBox="1"/>
          <p:nvPr/>
        </p:nvSpPr>
        <p:spPr>
          <a:xfrm>
            <a:off x="8669358" y="52851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R2</a:t>
            </a:r>
            <a:r>
              <a:rPr lang="en-US" b="1" dirty="0"/>
              <a:t> Higher</a:t>
            </a:r>
            <a:r>
              <a:rPr lang="en-US" dirty="0"/>
              <a:t> is Better</a:t>
            </a:r>
            <a:endParaRPr lang="el-GR" dirty="0"/>
          </a:p>
        </p:txBody>
      </p:sp>
      <p:pic>
        <p:nvPicPr>
          <p:cNvPr id="12" name="Graphic 11" descr="Arrow: Clockwise curve with solid fill">
            <a:extLst>
              <a:ext uri="{FF2B5EF4-FFF2-40B4-BE49-F238E27FC236}">
                <a16:creationId xmlns:a16="http://schemas.microsoft.com/office/drawing/2014/main" id="{51B2F724-D051-D6EE-F97B-AA5D885B75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1185" y="4970370"/>
            <a:ext cx="914400" cy="914400"/>
          </a:xfrm>
          <a:prstGeom prst="rect">
            <a:avLst/>
          </a:prstGeom>
        </p:spPr>
      </p:pic>
      <p:pic>
        <p:nvPicPr>
          <p:cNvPr id="14" name="Graphic 13" descr="Arrow: Clockwise curve with solid fill">
            <a:extLst>
              <a:ext uri="{FF2B5EF4-FFF2-40B4-BE49-F238E27FC236}">
                <a16:creationId xmlns:a16="http://schemas.microsoft.com/office/drawing/2014/main" id="{C8F613DD-3F13-D2A6-DAF9-EBC3ED8F3A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11111077" y="4273439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045383-667F-A3D1-B826-D1EDCAE2BA6E}"/>
              </a:ext>
            </a:extLst>
          </p:cNvPr>
          <p:cNvSpPr txBox="1"/>
          <p:nvPr/>
        </p:nvSpPr>
        <p:spPr>
          <a:xfrm>
            <a:off x="1048199" y="1450600"/>
            <a:ext cx="2450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Τα αποτελέσματα</a:t>
            </a:r>
            <a:endParaRPr lang="en-US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847531-3B0B-0008-A138-FFE8724AA0E2}"/>
              </a:ext>
            </a:extLst>
          </p:cNvPr>
          <p:cNvSpPr txBox="1"/>
          <p:nvPr/>
        </p:nvSpPr>
        <p:spPr>
          <a:xfrm>
            <a:off x="710339" y="5515438"/>
            <a:ext cx="3959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Συνδυασμός «Στοίβας» και «Ψήφου» 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641734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0A8537-F07E-E6C1-D014-0B0FD4F9E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47EE4-18AB-DE94-4AFC-601BA7518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199" y="410827"/>
            <a:ext cx="10267155" cy="936800"/>
          </a:xfrm>
        </p:spPr>
        <p:txBody>
          <a:bodyPr/>
          <a:lstStyle/>
          <a:p>
            <a:r>
              <a:rPr lang="el-GR" sz="3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Ακραίες Τιμές - </a:t>
            </a:r>
            <a:r>
              <a:rPr lang="en-US" sz="3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Outliers</a:t>
            </a:r>
            <a:endParaRPr lang="el-GR" sz="32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EF9A7EE-80BB-1E55-77D3-BDAA899A7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848254"/>
              </p:ext>
            </p:extLst>
          </p:nvPr>
        </p:nvGraphicFramePr>
        <p:xfrm>
          <a:off x="1048199" y="1910412"/>
          <a:ext cx="6257764" cy="24403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7070">
                  <a:extLst>
                    <a:ext uri="{9D8B030D-6E8A-4147-A177-3AD203B41FA5}">
                      <a16:colId xmlns:a16="http://schemas.microsoft.com/office/drawing/2014/main" val="3176503991"/>
                    </a:ext>
                  </a:extLst>
                </a:gridCol>
                <a:gridCol w="451488">
                  <a:extLst>
                    <a:ext uri="{9D8B030D-6E8A-4147-A177-3AD203B41FA5}">
                      <a16:colId xmlns:a16="http://schemas.microsoft.com/office/drawing/2014/main" val="4066419716"/>
                    </a:ext>
                  </a:extLst>
                </a:gridCol>
                <a:gridCol w="1376188">
                  <a:extLst>
                    <a:ext uri="{9D8B030D-6E8A-4147-A177-3AD203B41FA5}">
                      <a16:colId xmlns:a16="http://schemas.microsoft.com/office/drawing/2014/main" val="115746412"/>
                    </a:ext>
                  </a:extLst>
                </a:gridCol>
                <a:gridCol w="1246910">
                  <a:extLst>
                    <a:ext uri="{9D8B030D-6E8A-4147-A177-3AD203B41FA5}">
                      <a16:colId xmlns:a16="http://schemas.microsoft.com/office/drawing/2014/main" val="3462846011"/>
                    </a:ext>
                  </a:extLst>
                </a:gridCol>
                <a:gridCol w="1708727">
                  <a:extLst>
                    <a:ext uri="{9D8B030D-6E8A-4147-A177-3AD203B41FA5}">
                      <a16:colId xmlns:a16="http://schemas.microsoft.com/office/drawing/2014/main" val="1436957992"/>
                    </a:ext>
                  </a:extLst>
                </a:gridCol>
                <a:gridCol w="757381">
                  <a:extLst>
                    <a:ext uri="{9D8B030D-6E8A-4147-A177-3AD203B41FA5}">
                      <a16:colId xmlns:a16="http://schemas.microsoft.com/office/drawing/2014/main" val="229228232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prediction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actual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unscaled pred </a:t>
                      </a:r>
                      <a:endParaRPr lang="el-GR" sz="1100" b="1" u="none" strike="noStrike" dirty="0">
                        <a:effectLst/>
                      </a:endParaRPr>
                    </a:p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(millions)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unscaled actual (millions)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player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Διαφορά</a:t>
                      </a:r>
                      <a:endParaRPr lang="en-US" sz="1100" b="1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00426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 dirty="0">
                          <a:effectLst/>
                        </a:rPr>
                        <a:t>16,29</a:t>
                      </a:r>
                      <a:endParaRPr lang="el-G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17,70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11,82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48,75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john wall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 dirty="0">
                          <a:effectLst/>
                        </a:rPr>
                        <a:t>-36,93</a:t>
                      </a:r>
                      <a:endParaRPr lang="el-G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5036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16,80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17,70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19,79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48,48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russell</a:t>
                      </a:r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westbrook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-28,69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16878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16,10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17,46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9,78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38,20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solidFill>
                            <a:srgbClr val="00B0F0"/>
                          </a:solidFill>
                          <a:effectLst/>
                        </a:rPr>
                        <a:t>trae</a:t>
                      </a:r>
                      <a:r>
                        <a:rPr lang="en-US" sz="1100" u="none" strike="noStrike" dirty="0">
                          <a:solidFill>
                            <a:srgbClr val="00B0F0"/>
                          </a:solidFill>
                          <a:effectLst/>
                        </a:rPr>
                        <a:t> young</a:t>
                      </a:r>
                      <a:endParaRPr lang="en-US" sz="1100" b="0" i="0" u="none" strike="noStrike" dirty="0">
                        <a:solidFill>
                          <a:srgbClr val="00B0F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-28,42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0889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16,05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17,41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9,33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36,50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ben </a:t>
                      </a:r>
                      <a:r>
                        <a:rPr lang="en-US" sz="11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simmons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-27,17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25921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16,96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17,72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23,10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49,50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solidFill>
                            <a:srgbClr val="00B0F0"/>
                          </a:solidFill>
                          <a:effectLst/>
                        </a:rPr>
                        <a:t>stephen</a:t>
                      </a:r>
                      <a:r>
                        <a:rPr lang="en-US" sz="1100" u="none" strike="noStrike" dirty="0">
                          <a:solidFill>
                            <a:srgbClr val="00B0F0"/>
                          </a:solidFill>
                          <a:effectLst/>
                        </a:rPr>
                        <a:t> curry</a:t>
                      </a:r>
                      <a:endParaRPr lang="en-US" sz="1100" b="0" i="0" u="none" strike="noStrike" dirty="0">
                        <a:solidFill>
                          <a:srgbClr val="00B0F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-26,40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4789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15,22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15,24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4,09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 dirty="0">
                          <a:effectLst/>
                        </a:rPr>
                        <a:t>4,14</a:t>
                      </a:r>
                      <a:endParaRPr lang="el-G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stanley johnson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-0,05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3924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17,34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17,34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33,94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33,98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effectLst/>
                        </a:rPr>
                        <a:t>james</a:t>
                      </a:r>
                      <a:r>
                        <a:rPr lang="en-US" sz="1100" u="none" strike="noStrike" dirty="0">
                          <a:effectLst/>
                        </a:rPr>
                        <a:t> harden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-0,04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67533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14,74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14,75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2,52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2,54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effectLst/>
                        </a:rPr>
                        <a:t>raul</a:t>
                      </a:r>
                      <a:r>
                        <a:rPr lang="en-US" sz="1100" u="none" strike="noStrike" dirty="0">
                          <a:effectLst/>
                        </a:rPr>
                        <a:t> </a:t>
                      </a:r>
                      <a:r>
                        <a:rPr lang="en-US" sz="1100" u="none" strike="noStrike" dirty="0" err="1">
                          <a:effectLst/>
                        </a:rPr>
                        <a:t>neto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-0,02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27431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16,05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14,60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9,37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2,19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solidFill>
                            <a:srgbClr val="00B050"/>
                          </a:solidFill>
                          <a:effectLst/>
                        </a:rPr>
                        <a:t>desmond</a:t>
                      </a: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 bane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 dirty="0">
                          <a:effectLst/>
                        </a:rPr>
                        <a:t>7,18</a:t>
                      </a:r>
                      <a:endParaRPr lang="el-G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12174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16,57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15,62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15,78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6,06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solidFill>
                            <a:srgbClr val="00B050"/>
                          </a:solidFill>
                          <a:effectLst/>
                        </a:rPr>
                        <a:t>cameron</a:t>
                      </a: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00B050"/>
                          </a:solidFill>
                          <a:effectLst/>
                        </a:rPr>
                        <a:t>johnson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 dirty="0">
                          <a:effectLst/>
                        </a:rPr>
                        <a:t>9,72</a:t>
                      </a:r>
                      <a:endParaRPr lang="el-G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7792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 dirty="0">
                          <a:effectLst/>
                        </a:rPr>
                        <a:t>16,24</a:t>
                      </a:r>
                      <a:endParaRPr lang="el-G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13,84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11,29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1,03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kris </a:t>
                      </a:r>
                      <a:r>
                        <a:rPr lang="en-US" sz="1100" u="none" strike="noStrike" dirty="0" err="1">
                          <a:solidFill>
                            <a:srgbClr val="00B050"/>
                          </a:solidFill>
                          <a:effectLst/>
                        </a:rPr>
                        <a:t>dunn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 dirty="0">
                          <a:effectLst/>
                        </a:rPr>
                        <a:t>10,26</a:t>
                      </a:r>
                      <a:endParaRPr lang="el-G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814277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977802C2-841E-4641-C2BF-C8681424563B}"/>
              </a:ext>
            </a:extLst>
          </p:cNvPr>
          <p:cNvSpPr txBox="1"/>
          <p:nvPr/>
        </p:nvSpPr>
        <p:spPr>
          <a:xfrm>
            <a:off x="1048198" y="1431172"/>
            <a:ext cx="5204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Overpaid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– </a:t>
            </a:r>
            <a:r>
              <a:rPr lang="en-US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Underpaid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παίκτες της σεζόν 2022-23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27B063-0A7F-23F1-982F-E1B3384A3BD0}"/>
              </a:ext>
            </a:extLst>
          </p:cNvPr>
          <p:cNvSpPr txBox="1"/>
          <p:nvPr/>
        </p:nvSpPr>
        <p:spPr>
          <a:xfrm>
            <a:off x="1330036" y="5015482"/>
            <a:ext cx="44149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solidFill>
                  <a:srgbClr val="00B0F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Franchise players 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</a:t>
            </a:r>
            <a:r>
              <a:rPr lang="el-GR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Παίκτες που αμείβονται υψηλά για την αξία τους εντός και εκτός του γηπέδου.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667EA06-939F-6E31-6D38-3D9F871AB66A}"/>
              </a:ext>
            </a:extLst>
          </p:cNvPr>
          <p:cNvGrpSpPr/>
          <p:nvPr/>
        </p:nvGrpSpPr>
        <p:grpSpPr>
          <a:xfrm>
            <a:off x="7775989" y="410827"/>
            <a:ext cx="4236030" cy="5189087"/>
            <a:chOff x="7775989" y="410827"/>
            <a:chExt cx="4236030" cy="518908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12ED25C-E713-C91D-9DFA-16FE4A132988}"/>
                </a:ext>
              </a:extLst>
            </p:cNvPr>
            <p:cNvGrpSpPr/>
            <p:nvPr/>
          </p:nvGrpSpPr>
          <p:grpSpPr>
            <a:xfrm>
              <a:off x="7775992" y="410827"/>
              <a:ext cx="4236027" cy="2858217"/>
              <a:chOff x="7803701" y="1466003"/>
              <a:chExt cx="4236027" cy="2858217"/>
            </a:xfrm>
          </p:grpSpPr>
          <p:pic>
            <p:nvPicPr>
              <p:cNvPr id="1030" name="Picture 6" descr="most overpaid players in the league this season 2022-23 clippers leonard paul george john wall ben simmons rumors trade free agency">
                <a:extLst>
                  <a:ext uri="{FF2B5EF4-FFF2-40B4-BE49-F238E27FC236}">
                    <a16:creationId xmlns:a16="http://schemas.microsoft.com/office/drawing/2014/main" id="{E5011425-1624-3719-37E0-AF56680D423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03701" y="1782604"/>
                <a:ext cx="4236027" cy="25416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2" name="Picture 8" descr="HoopsHype">
                <a:extLst>
                  <a:ext uri="{FF2B5EF4-FFF2-40B4-BE49-F238E27FC236}">
                    <a16:creationId xmlns:a16="http://schemas.microsoft.com/office/drawing/2014/main" id="{BCBE35D7-28C6-8D56-9A75-6695EABD159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03701" y="1466003"/>
                <a:ext cx="2210665" cy="3260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D9D9AB5-5920-4341-E21D-8593AB961DD7}"/>
                </a:ext>
              </a:extLst>
            </p:cNvPr>
            <p:cNvSpPr txBox="1"/>
            <p:nvPr/>
          </p:nvSpPr>
          <p:spPr>
            <a:xfrm>
              <a:off x="7796300" y="2622713"/>
              <a:ext cx="349134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base"/>
              <a:r>
                <a:rPr lang="en-US" b="1" i="0" dirty="0">
                  <a:solidFill>
                    <a:srgbClr val="FFFFFF"/>
                  </a:solidFill>
                  <a:effectLst/>
                  <a:latin typeface="Futura Today Demi Bold"/>
                </a:rPr>
                <a:t>The most overpaid players in the NBA in 2022-23</a:t>
              </a:r>
            </a:p>
          </p:txBody>
        </p:sp>
        <p:pic>
          <p:nvPicPr>
            <p:cNvPr id="10" name="Graphic 9" descr="Badge 1 with solid fill">
              <a:extLst>
                <a:ext uri="{FF2B5EF4-FFF2-40B4-BE49-F238E27FC236}">
                  <a16:creationId xmlns:a16="http://schemas.microsoft.com/office/drawing/2014/main" id="{37D97FE7-B8C3-C3F1-0C56-50369DB0D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775992" y="3585645"/>
              <a:ext cx="531090" cy="531090"/>
            </a:xfrm>
            <a:prstGeom prst="rect">
              <a:avLst/>
            </a:prstGeom>
          </p:spPr>
        </p:pic>
        <p:pic>
          <p:nvPicPr>
            <p:cNvPr id="12" name="Graphic 11" descr="Badge 3 with solid fill">
              <a:extLst>
                <a:ext uri="{FF2B5EF4-FFF2-40B4-BE49-F238E27FC236}">
                  <a16:creationId xmlns:a16="http://schemas.microsoft.com/office/drawing/2014/main" id="{ED24B0A2-8129-AD91-644A-C67D201B8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775990" y="4574432"/>
              <a:ext cx="531091" cy="531091"/>
            </a:xfrm>
            <a:prstGeom prst="rect">
              <a:avLst/>
            </a:prstGeom>
          </p:spPr>
        </p:pic>
        <p:pic>
          <p:nvPicPr>
            <p:cNvPr id="14" name="Graphic 13" descr="Badge 4 with solid fill">
              <a:extLst>
                <a:ext uri="{FF2B5EF4-FFF2-40B4-BE49-F238E27FC236}">
                  <a16:creationId xmlns:a16="http://schemas.microsoft.com/office/drawing/2014/main" id="{1D8DEF00-000B-6242-E21C-F9DCD8DFD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775989" y="5068825"/>
              <a:ext cx="531089" cy="531089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386E875-9532-1223-5AF8-90E910299952}"/>
                </a:ext>
              </a:extLst>
            </p:cNvPr>
            <p:cNvSpPr txBox="1"/>
            <p:nvPr/>
          </p:nvSpPr>
          <p:spPr>
            <a:xfrm>
              <a:off x="8452800" y="3666524"/>
              <a:ext cx="14408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Futura Today Demi Bold"/>
                </a:rPr>
                <a:t>John Wall</a:t>
              </a:r>
              <a:endParaRPr lang="el-GR" dirty="0">
                <a:solidFill>
                  <a:srgbClr val="FF0000"/>
                </a:solidFill>
                <a:latin typeface="Futura Today Demi Bold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308E542-4671-F8D5-1671-5C7C8220D542}"/>
                </a:ext>
              </a:extLst>
            </p:cNvPr>
            <p:cNvSpPr txBox="1"/>
            <p:nvPr/>
          </p:nvSpPr>
          <p:spPr>
            <a:xfrm>
              <a:off x="8453129" y="4655311"/>
              <a:ext cx="21594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Futura Today Demi Bold"/>
                </a:rPr>
                <a:t>Russel Westbrook</a:t>
              </a:r>
              <a:endParaRPr lang="el-GR" dirty="0">
                <a:solidFill>
                  <a:srgbClr val="FF0000"/>
                </a:solidFill>
                <a:latin typeface="Futura Today Demi Bold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7BB14E7-C425-69C8-9EC5-E700150A5F1A}"/>
                </a:ext>
              </a:extLst>
            </p:cNvPr>
            <p:cNvSpPr txBox="1"/>
            <p:nvPr/>
          </p:nvSpPr>
          <p:spPr>
            <a:xfrm>
              <a:off x="8452800" y="5149703"/>
              <a:ext cx="18380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Futura Today Demi Bold"/>
                </a:rPr>
                <a:t>Ben Simmons</a:t>
              </a:r>
              <a:endParaRPr lang="el-GR" dirty="0">
                <a:solidFill>
                  <a:srgbClr val="FF0000"/>
                </a:solidFill>
                <a:latin typeface="Futura Today Demi Bold"/>
              </a:endParaRPr>
            </a:p>
          </p:txBody>
        </p:sp>
        <p:pic>
          <p:nvPicPr>
            <p:cNvPr id="23" name="Graphic 22" descr="Badge with solid fill">
              <a:extLst>
                <a:ext uri="{FF2B5EF4-FFF2-40B4-BE49-F238E27FC236}">
                  <a16:creationId xmlns:a16="http://schemas.microsoft.com/office/drawing/2014/main" id="{22EE1DAE-979A-9A19-4C6D-DD3053AFC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775991" y="4080039"/>
              <a:ext cx="531089" cy="531089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5B6CBEB-BAE7-F2F4-9DCC-0BF3118ACCA9}"/>
                </a:ext>
              </a:extLst>
            </p:cNvPr>
            <p:cNvSpPr txBox="1"/>
            <p:nvPr/>
          </p:nvSpPr>
          <p:spPr>
            <a:xfrm>
              <a:off x="8452800" y="4160917"/>
              <a:ext cx="18380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Futura Today Demi Bold"/>
                </a:rPr>
                <a:t>Kemba Walker</a:t>
              </a:r>
              <a:endParaRPr lang="el-GR" dirty="0">
                <a:latin typeface="Futura Today Demi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2342685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65AA7C-BB81-ADF2-3E81-5F90AF02D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C9D31-6228-B1FB-CC78-BA7F7DB6E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199" y="410827"/>
            <a:ext cx="10267155" cy="936800"/>
          </a:xfrm>
        </p:spPr>
        <p:txBody>
          <a:bodyPr/>
          <a:lstStyle/>
          <a:p>
            <a:r>
              <a:rPr lang="el-GR" sz="3200">
                <a:latin typeface="Roboto Slab" pitchFamily="2" charset="0"/>
                <a:ea typeface="Roboto Slab" pitchFamily="2" charset="0"/>
                <a:cs typeface="Roboto Slab" pitchFamily="2" charset="0"/>
              </a:rPr>
              <a:t>Συμπεράσματα</a:t>
            </a:r>
            <a:endParaRPr lang="el-GR" sz="32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94716B-C022-8B93-F6C5-29A0BE864D34}"/>
              </a:ext>
            </a:extLst>
          </p:cNvPr>
          <p:cNvSpPr txBox="1"/>
          <p:nvPr/>
        </p:nvSpPr>
        <p:spPr>
          <a:xfrm>
            <a:off x="1048199" y="2109457"/>
            <a:ext cx="10540237" cy="2957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l-GR" sz="1800" b="0" i="0" u="none" strike="noStrike" baseline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Το μοντέλο παλινδρόμησης </a:t>
            </a:r>
            <a:r>
              <a:rPr lang="en-US" sz="1800" b="1" i="0" u="none" strike="noStrike" baseline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CatBoost</a:t>
            </a:r>
            <a:r>
              <a:rPr lang="el-GR" sz="1800" b="0" i="0" u="none" strike="noStrike" baseline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αναδείχθηκε ως το καλύτερο μοντέλο</a:t>
            </a:r>
            <a:r>
              <a:rPr lang="en-US" sz="1800" b="0" i="0" u="none" strike="noStrike" baseline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O</a:t>
            </a:r>
            <a:r>
              <a:rPr lang="el-GR" sz="1800" b="0" i="0" u="none" strike="noStrike" baseline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ι </a:t>
            </a:r>
            <a:r>
              <a:rPr lang="el-GR" sz="1800" b="1" i="0" u="none" strike="noStrike" baseline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μέθοδοι συνόλου</a:t>
            </a:r>
            <a:r>
              <a:rPr lang="en-US" sz="1800" b="1" i="0" u="none" strike="noStrike" baseline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1800" b="0" i="0" u="none" strike="noStrike" baseline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(stacking regresso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r -</a:t>
            </a:r>
            <a:r>
              <a:rPr lang="en-US" sz="1800" b="0" i="0" u="none" strike="noStrike" baseline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voting regressor)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l-GR" sz="1800" b="0" i="0" u="none" strike="noStrike" baseline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βελτίωσαν περαιτέρω την απόδοση.</a:t>
            </a:r>
            <a:endParaRPr lang="en-US" sz="1800" b="0" i="0" u="none" strike="noStrike" baseline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Σ</a:t>
            </a:r>
            <a:r>
              <a:rPr lang="el-GR" sz="1800" b="0" i="0" u="none" strike="noStrike" baseline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τις ακραίες τιμές (</a:t>
            </a:r>
            <a:r>
              <a:rPr lang="en-US" sz="1800" b="0" i="0" u="none" strike="noStrike" baseline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outliers</a:t>
            </a:r>
            <a:r>
              <a:rPr lang="el-GR" sz="1800" b="0" i="0" u="none" strike="noStrike" baseline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 των προβλέψεων μπορούν να</a:t>
            </a:r>
            <a:r>
              <a:rPr lang="en-US" sz="1800" b="0" i="0" u="none" strike="noStrike" baseline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l-GR" sz="1800" b="0" i="0" u="none" strike="noStrike" baseline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εντοπιστούν </a:t>
            </a:r>
            <a:r>
              <a:rPr lang="el-GR" sz="1800" b="1" i="0" u="none" strike="noStrike" baseline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υπερεκτιμημένοι/υποτιμημένοι </a:t>
            </a:r>
            <a:r>
              <a:rPr lang="el-GR" sz="1800" b="0" i="0" u="none" strike="noStrike" baseline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παίκτες που αμείβονται δυσανάλογα με τις ατομικές τους αποδόσεις</a:t>
            </a:r>
            <a:r>
              <a:rPr lang="en-US" sz="1800" b="0" i="0" u="none" strike="noStrike" baseline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  <a:endParaRPr lang="el-GR" sz="1800" b="0" i="0" u="none" strike="noStrike" baseline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l-GR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Ε</a:t>
            </a:r>
            <a:r>
              <a:rPr lang="el-GR" sz="1800" b="1" i="0" u="none" strike="noStrike" baseline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ξωτερικοί παράγοντες </a:t>
            </a:r>
            <a:r>
              <a:rPr lang="el-GR" sz="1800" b="0" i="0" u="none" strike="noStrike" baseline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όπως η</a:t>
            </a:r>
            <a:r>
              <a:rPr lang="en-US" sz="1800" b="0" i="0" u="none" strike="noStrike" baseline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l-GR" sz="1800" b="0" i="0" u="none" strike="noStrike" baseline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ζήτηση στην αγορά, η φήμη των παικτών και η αξία των </a:t>
            </a:r>
            <a:r>
              <a:rPr lang="en-US" sz="1800" b="0" i="0" u="none" strike="noStrike" baseline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franchise</a:t>
            </a:r>
            <a:r>
              <a:rPr lang="el-GR" sz="1800" b="0" i="0" u="none" strike="noStrike" baseline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1800" b="0" i="0" u="none" strike="noStrike" baseline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players</a:t>
            </a:r>
            <a:r>
              <a:rPr lang="el-GR" sz="1800" b="0" i="0" u="none" strike="noStrike" baseline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(δύσκολο να ποσοτικοποιηθεί) μπορεί να επηρεάσουν τις αποδοχές πέρα από τα καθαρά στατιστικά στοιχεία</a:t>
            </a:r>
            <a:r>
              <a:rPr lang="en-US" sz="1800" b="0" i="0" u="none" strike="noStrike" baseline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  <a:endParaRPr lang="el-GR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026" name="Picture 2" descr="CatBoost Machine Learning framework from Yandex boosts the range of AI |  ZDNET">
            <a:extLst>
              <a:ext uri="{FF2B5EF4-FFF2-40B4-BE49-F238E27FC236}">
                <a16:creationId xmlns:a16="http://schemas.microsoft.com/office/drawing/2014/main" id="{F8368AE6-3DEA-3B93-A96E-6F0461E10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199" y="5257800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6548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983F6D-3750-2A0D-B22E-8B3E832F5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Unisex Nike Stephen Curry White Golden State Warriors Swingman Badge Player  Jersey - Association Edition">
            <a:extLst>
              <a:ext uri="{FF2B5EF4-FFF2-40B4-BE49-F238E27FC236}">
                <a16:creationId xmlns:a16="http://schemas.microsoft.com/office/drawing/2014/main" id="{C548F8B5-F3CB-52D3-DBFA-8382428E2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85" y="6054"/>
            <a:ext cx="4300000" cy="43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CA70DF-D57E-967E-26E2-4A44C24D6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199" y="410827"/>
            <a:ext cx="10267155" cy="936800"/>
          </a:xfrm>
        </p:spPr>
        <p:txBody>
          <a:bodyPr/>
          <a:lstStyle/>
          <a:p>
            <a:r>
              <a:rPr lang="el-GR" sz="3200">
                <a:latin typeface="Roboto Slab" pitchFamily="2" charset="0"/>
                <a:ea typeface="Roboto Slab" pitchFamily="2" charset="0"/>
                <a:cs typeface="Roboto Slab" pitchFamily="2" charset="0"/>
              </a:rPr>
              <a:t>Μελλοντικές επεκτάσεις</a:t>
            </a:r>
            <a:endParaRPr lang="el-GR" sz="32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FD4842-7A39-B82D-FBF5-40CFB12E8138}"/>
              </a:ext>
            </a:extLst>
          </p:cNvPr>
          <p:cNvSpPr txBox="1"/>
          <p:nvPr/>
        </p:nvSpPr>
        <p:spPr>
          <a:xfrm>
            <a:off x="1048199" y="2109457"/>
            <a:ext cx="9127896" cy="2229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l-GR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Ενσωμάτωση μετρικών που αποτυπώνουν την ευρύτερη εμπορική επιρροή ενός παίκτη. </a:t>
            </a:r>
            <a:endParaRPr lang="en-US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Ακόλουθοι στα μέσα κοινωνικής δικτύωσης (π.χ. Twitter,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Instagram</a:t>
            </a: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TikTok</a:t>
            </a: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) 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Αριθμός πωλήσεων φανέλας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Τάσεις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 </a:t>
            </a: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Αριθμός αναζητήσεων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Google ( </a:t>
            </a:r>
            <a:r>
              <a:rPr lang="el-GR" dirty="0">
                <a:latin typeface="Source Sans Pro" panose="020B0503030403020204" pitchFamily="34" charset="0"/>
                <a:ea typeface="Source Sans Pro" panose="020B0503030403020204" pitchFamily="34" charset="0"/>
              </a:rPr>
              <a:t>π.χ.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Google Trends)</a:t>
            </a:r>
            <a:endParaRPr lang="el-GR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052" name="Picture 4" descr="Google Trends - New connector">
            <a:extLst>
              <a:ext uri="{FF2B5EF4-FFF2-40B4-BE49-F238E27FC236}">
                <a16:creationId xmlns:a16="http://schemas.microsoft.com/office/drawing/2014/main" id="{BF0E9A27-42A8-85D1-1B38-35CCBB1B8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9742" y="5101256"/>
            <a:ext cx="2882034" cy="1729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Social Media Icons Vector Art, Icons, and Graphics for Free Download">
            <a:extLst>
              <a:ext uri="{FF2B5EF4-FFF2-40B4-BE49-F238E27FC236}">
                <a16:creationId xmlns:a16="http://schemas.microsoft.com/office/drawing/2014/main" id="{AFEA91FF-CD91-0BD5-37E1-764F9EF74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9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5910" y="5175255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6682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DC1F5-6B13-DB34-61C4-913501DDF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150CA-8443-0728-ECBF-75C2DE4F2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8200" y="410827"/>
            <a:ext cx="10095600" cy="9368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l-GR" sz="4800" b="1"/>
              <a:t>Σας ευχαριστώ για τον χρόνο σας!</a:t>
            </a:r>
          </a:p>
        </p:txBody>
      </p:sp>
      <p:pic>
        <p:nvPicPr>
          <p:cNvPr id="4" name="Picture 3" descr="Aerial view of blue basketball court">
            <a:extLst>
              <a:ext uri="{FF2B5EF4-FFF2-40B4-BE49-F238E27FC236}">
                <a16:creationId xmlns:a16="http://schemas.microsoft.com/office/drawing/2014/main" id="{B89D7EC6-F176-4FAC-5FCD-65DC88401A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16" r="18386" b="2"/>
          <a:stretch>
            <a:fillRect/>
          </a:stretch>
        </p:blipFill>
        <p:spPr>
          <a:xfrm>
            <a:off x="1048200" y="1538127"/>
            <a:ext cx="4857300" cy="435254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BA743FF-FA86-F01A-5566-676105674187}"/>
              </a:ext>
            </a:extLst>
          </p:cNvPr>
          <p:cNvSpPr txBox="1">
            <a:spLocks/>
          </p:cNvSpPr>
          <p:nvPr/>
        </p:nvSpPr>
        <p:spPr>
          <a:xfrm>
            <a:off x="6286500" y="1782571"/>
            <a:ext cx="4857300" cy="4352544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l-GR" sz="3000" dirty="0"/>
              <a:t>Ερωτήσεις</a:t>
            </a:r>
            <a:r>
              <a:rPr lang="en-US" sz="3000" kern="1200" dirty="0"/>
              <a:t> ;</a:t>
            </a:r>
          </a:p>
        </p:txBody>
      </p:sp>
    </p:spTree>
    <p:extLst>
      <p:ext uri="{BB962C8B-B14F-4D97-AF65-F5344CB8AC3E}">
        <p14:creationId xmlns:p14="http://schemas.microsoft.com/office/powerpoint/2010/main" val="469176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ordelia template">
  <a:themeElements>
    <a:clrScheme name="Custom 347">
      <a:dk1>
        <a:srgbClr val="263238"/>
      </a:dk1>
      <a:lt1>
        <a:srgbClr val="FFFFFF"/>
      </a:lt1>
      <a:dk2>
        <a:srgbClr val="607D8B"/>
      </a:dk2>
      <a:lt2>
        <a:srgbClr val="ECEFF1"/>
      </a:lt2>
      <a:accent1>
        <a:srgbClr val="0091EA"/>
      </a:accent1>
      <a:accent2>
        <a:srgbClr val="0053A3"/>
      </a:accent2>
      <a:accent3>
        <a:srgbClr val="607D8B"/>
      </a:accent3>
      <a:accent4>
        <a:srgbClr val="CFD8DC"/>
      </a:accent4>
      <a:accent5>
        <a:srgbClr val="ECEFF1"/>
      </a:accent5>
      <a:accent6>
        <a:srgbClr val="ACDBF8"/>
      </a:accent6>
      <a:hlink>
        <a:srgbClr val="0091E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4297</TotalTime>
  <Words>2637</Words>
  <Application>Microsoft Office PowerPoint</Application>
  <PresentationFormat>Widescreen</PresentationFormat>
  <Paragraphs>760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4" baseType="lpstr">
      <vt:lpstr>Aptos</vt:lpstr>
      <vt:lpstr>Aptos Display</vt:lpstr>
      <vt:lpstr>Aptos Narrow</vt:lpstr>
      <vt:lpstr>Arial</vt:lpstr>
      <vt:lpstr>Arial Black</vt:lpstr>
      <vt:lpstr>Calibri</vt:lpstr>
      <vt:lpstr>CIDFont+F3</vt:lpstr>
      <vt:lpstr>Futura Today Demi Bold</vt:lpstr>
      <vt:lpstr>Roboto Slab</vt:lpstr>
      <vt:lpstr>Source Sans Pro</vt:lpstr>
      <vt:lpstr>SourceSansPro</vt:lpstr>
      <vt:lpstr>Wingdings</vt:lpstr>
      <vt:lpstr>Office Theme</vt:lpstr>
      <vt:lpstr>Cordelia template</vt:lpstr>
      <vt:lpstr>Ανάλυση Δεδομένων για την Προγνωστική Μοντελοποίηση του Μισθού των Παικτών του NΒΑ</vt:lpstr>
      <vt:lpstr>Στόχος της εργασίας</vt:lpstr>
      <vt:lpstr>Γιατί επιλέχθηκε το NBA </vt:lpstr>
      <vt:lpstr>PowerPoint Presentation</vt:lpstr>
      <vt:lpstr>Συλλογή Δεδομένων - Data Collection</vt:lpstr>
      <vt:lpstr>Συλλογή Δεδομένων - Data Collection</vt:lpstr>
      <vt:lpstr>Συλλογή Δεδομένων - Data Collection</vt:lpstr>
      <vt:lpstr>Προ-επεξεργασία Δεδομένων  - Data Preprocessing</vt:lpstr>
      <vt:lpstr>Προ-επεξεργασία Δεδομένων  - Data Preprocessing</vt:lpstr>
      <vt:lpstr>Ανάλυση Δεδομένων – Exploratory Data Analysis</vt:lpstr>
      <vt:lpstr>Εκπαίδευση μοντέλων και Αξιολόγηση</vt:lpstr>
      <vt:lpstr>Εκπαίδευση μοντέλων και Αξιολόγηση</vt:lpstr>
      <vt:lpstr>Βελτιστοποίηση</vt:lpstr>
      <vt:lpstr>Σημαντικά Χαρακτηριστικά – Feature Importance</vt:lpstr>
      <vt:lpstr>Μέθοδοι Συνόλου - Ensembles</vt:lpstr>
      <vt:lpstr>Μέθοδοι Συνόλου - Ensembles</vt:lpstr>
      <vt:lpstr>Ακραίες Τιμές - Outliers</vt:lpstr>
      <vt:lpstr>Συμπεράσματα</vt:lpstr>
      <vt:lpstr>Μελλοντικές επεκτάσεις</vt:lpstr>
      <vt:lpstr>Σας ευχαριστώ για τον χρόνο σας!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ΠΑΝΑΓΙΩΤΗΣ ΑΡΑΠΑΚΗΣ</dc:creator>
  <cp:lastModifiedBy>ΠΑΝΑΓΙΩΤΗΣ ΑΡΑΠΑΚΗΣ</cp:lastModifiedBy>
  <cp:revision>74</cp:revision>
  <dcterms:created xsi:type="dcterms:W3CDTF">2025-05-11T09:07:29Z</dcterms:created>
  <dcterms:modified xsi:type="dcterms:W3CDTF">2025-06-25T04:19:22Z</dcterms:modified>
</cp:coreProperties>
</file>